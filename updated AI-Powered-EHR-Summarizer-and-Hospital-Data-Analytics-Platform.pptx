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rlito" panose="020B0604020202020204" charset="0"/>
      <p:regular r:id="rId11"/>
    </p:embeddedFont>
    <p:embeddedFont>
      <p:font typeface="Carlito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622" autoAdjust="0"/>
  </p:normalViewPr>
  <p:slideViewPr>
    <p:cSldViewPr>
      <p:cViewPr>
        <p:scale>
          <a:sx n="50" d="100"/>
          <a:sy n="50" d="100"/>
        </p:scale>
        <p:origin x="1349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10788" y="686333"/>
            <a:ext cx="14080112" cy="2103987"/>
            <a:chOff x="0" y="0"/>
            <a:chExt cx="18773483" cy="2805316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8773521" cy="2805303"/>
            </a:xfrm>
            <a:custGeom>
              <a:avLst/>
              <a:gdLst/>
              <a:ahLst/>
              <a:cxnLst/>
              <a:rect l="l" t="t" r="r" b="b"/>
              <a:pathLst>
                <a:path w="18773521" h="2805303">
                  <a:moveTo>
                    <a:pt x="0" y="0"/>
                  </a:moveTo>
                  <a:lnTo>
                    <a:pt x="18773521" y="0"/>
                  </a:lnTo>
                  <a:lnTo>
                    <a:pt x="18773521" y="2805303"/>
                  </a:lnTo>
                  <a:lnTo>
                    <a:pt x="0" y="2805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5" b="-27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97994" y="3083547"/>
            <a:ext cx="16105861" cy="195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5"/>
              </a:lnSpc>
            </a:pPr>
            <a:r>
              <a:rPr lang="en-US" sz="6004" b="1" spc="39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AI-Powered EHR Summarizer &amp;</a:t>
            </a:r>
          </a:p>
          <a:p>
            <a:pPr algn="ctr">
              <a:lnSpc>
                <a:spcPts val="7205"/>
              </a:lnSpc>
            </a:pPr>
            <a:r>
              <a:rPr lang="en-US" sz="6004" b="1" spc="39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Hospital Data Analytics Platform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994" y="5228225"/>
            <a:ext cx="16105861" cy="1164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Clinical Intelligence, Grounded Summarisation</a:t>
            </a:r>
          </a:p>
          <a:p>
            <a:pPr algn="ctr">
              <a:lnSpc>
                <a:spcPts val="4323"/>
              </a:lnSpc>
            </a:pPr>
            <a:r>
              <a:rPr lang="en-US" sz="36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&amp; Interactive Hospital Analytics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97994" y="7174801"/>
            <a:ext cx="9388926" cy="1833362"/>
            <a:chOff x="0" y="0"/>
            <a:chExt cx="12518568" cy="24444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18644" cy="2444496"/>
            </a:xfrm>
            <a:custGeom>
              <a:avLst/>
              <a:gdLst/>
              <a:ahLst/>
              <a:cxnLst/>
              <a:rect l="l" t="t" r="r" b="b"/>
              <a:pathLst>
                <a:path w="12518644" h="2444496">
                  <a:moveTo>
                    <a:pt x="0" y="144145"/>
                  </a:moveTo>
                  <a:cubicBezTo>
                    <a:pt x="0" y="64516"/>
                    <a:pt x="64516" y="0"/>
                    <a:pt x="144145" y="0"/>
                  </a:cubicBezTo>
                  <a:lnTo>
                    <a:pt x="12374499" y="0"/>
                  </a:lnTo>
                  <a:cubicBezTo>
                    <a:pt x="12454128" y="0"/>
                    <a:pt x="12518644" y="64516"/>
                    <a:pt x="12518644" y="144145"/>
                  </a:cubicBezTo>
                  <a:lnTo>
                    <a:pt x="12518644" y="2300351"/>
                  </a:lnTo>
                  <a:cubicBezTo>
                    <a:pt x="12518644" y="2379980"/>
                    <a:pt x="12454128" y="2444496"/>
                    <a:pt x="12374499" y="2444496"/>
                  </a:cubicBezTo>
                  <a:lnTo>
                    <a:pt x="144145" y="2444496"/>
                  </a:lnTo>
                  <a:cubicBezTo>
                    <a:pt x="64516" y="2444496"/>
                    <a:pt x="0" y="2379980"/>
                    <a:pt x="0" y="2300351"/>
                  </a:cubicBezTo>
                  <a:close/>
                </a:path>
              </a:pathLst>
            </a:custGeom>
            <a:solidFill>
              <a:srgbClr val="DBE4F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97994" y="7174801"/>
            <a:ext cx="9388926" cy="114386"/>
            <a:chOff x="0" y="0"/>
            <a:chExt cx="12518568" cy="1525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18517" cy="152527"/>
            </a:xfrm>
            <a:custGeom>
              <a:avLst/>
              <a:gdLst/>
              <a:ahLst/>
              <a:cxnLst/>
              <a:rect l="l" t="t" r="r" b="b"/>
              <a:pathLst>
                <a:path w="12518517" h="152527">
                  <a:moveTo>
                    <a:pt x="0" y="0"/>
                  </a:moveTo>
                  <a:lnTo>
                    <a:pt x="12518517" y="0"/>
                  </a:lnTo>
                  <a:lnTo>
                    <a:pt x="12518517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326766" y="7432243"/>
            <a:ext cx="9160154" cy="415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9"/>
              </a:lnSpc>
            </a:pPr>
            <a:r>
              <a:rPr lang="en-US" sz="1726" spc="103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INSTITUTION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6766" y="7912008"/>
            <a:ext cx="8931383" cy="86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263547"/>
                </a:solidFill>
                <a:latin typeface="Carlito"/>
                <a:ea typeface="Carlito"/>
                <a:cs typeface="Carlito"/>
                <a:sym typeface="Carlito"/>
              </a:rPr>
              <a:t>Thakur College of Engineering &amp; Technology (TCET), Mumbai</a:t>
            </a:r>
          </a:p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263547"/>
                </a:solidFill>
                <a:latin typeface="Carlito"/>
                <a:ea typeface="Carlito"/>
                <a:cs typeface="Carlito"/>
                <a:sym typeface="Carlito"/>
              </a:rPr>
              <a:t>Department of Artificial Intelligence &amp; Machine Learning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944320" y="7174801"/>
            <a:ext cx="6259535" cy="1833362"/>
            <a:chOff x="0" y="0"/>
            <a:chExt cx="8346046" cy="244448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346059" cy="2444496"/>
            </a:xfrm>
            <a:custGeom>
              <a:avLst/>
              <a:gdLst/>
              <a:ahLst/>
              <a:cxnLst/>
              <a:rect l="l" t="t" r="r" b="b"/>
              <a:pathLst>
                <a:path w="8346059" h="2444496">
                  <a:moveTo>
                    <a:pt x="0" y="144145"/>
                  </a:moveTo>
                  <a:cubicBezTo>
                    <a:pt x="0" y="64516"/>
                    <a:pt x="64516" y="0"/>
                    <a:pt x="144145" y="0"/>
                  </a:cubicBezTo>
                  <a:lnTo>
                    <a:pt x="8201914" y="0"/>
                  </a:lnTo>
                  <a:cubicBezTo>
                    <a:pt x="8281543" y="0"/>
                    <a:pt x="8346059" y="64516"/>
                    <a:pt x="8346059" y="144145"/>
                  </a:cubicBezTo>
                  <a:lnTo>
                    <a:pt x="8346059" y="2300351"/>
                  </a:lnTo>
                  <a:cubicBezTo>
                    <a:pt x="8346059" y="2379980"/>
                    <a:pt x="8281543" y="2444496"/>
                    <a:pt x="8201914" y="2444496"/>
                  </a:cubicBezTo>
                  <a:lnTo>
                    <a:pt x="144145" y="2444496"/>
                  </a:lnTo>
                  <a:cubicBezTo>
                    <a:pt x="64516" y="2444496"/>
                    <a:pt x="0" y="2379980"/>
                    <a:pt x="0" y="2300351"/>
                  </a:cubicBezTo>
                  <a:close/>
                </a:path>
              </a:pathLst>
            </a:custGeom>
            <a:solidFill>
              <a:srgbClr val="DBE4F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944320" y="7174801"/>
            <a:ext cx="6259535" cy="114386"/>
            <a:chOff x="0" y="0"/>
            <a:chExt cx="8346046" cy="1525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346059" cy="152527"/>
            </a:xfrm>
            <a:custGeom>
              <a:avLst/>
              <a:gdLst/>
              <a:ahLst/>
              <a:cxnLst/>
              <a:rect l="l" t="t" r="r" b="b"/>
              <a:pathLst>
                <a:path w="8346059" h="152527">
                  <a:moveTo>
                    <a:pt x="0" y="0"/>
                  </a:moveTo>
                  <a:lnTo>
                    <a:pt x="8346059" y="0"/>
                  </a:lnTo>
                  <a:lnTo>
                    <a:pt x="8346059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1173092" y="7432243"/>
            <a:ext cx="6030763" cy="415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9"/>
              </a:lnSpc>
            </a:pPr>
            <a:r>
              <a:rPr lang="en-US" sz="1726" spc="103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COURSE PROJECT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73092" y="7912008"/>
            <a:ext cx="6030763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263547"/>
                </a:solidFill>
                <a:latin typeface="Carlito"/>
                <a:ea typeface="Carlito"/>
                <a:cs typeface="Carlito"/>
                <a:sym typeface="Carlito"/>
              </a:rPr>
              <a:t>Generative AI (GAI) Capstone Project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442" y="9203655"/>
            <a:ext cx="17020946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Team: Aryan Maurya 23, Arjun Shetty 43, Krish Vanani 59, Sarthak Wakade 62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0" y="0"/>
            <a:ext cx="18301840" cy="152524"/>
            <a:chOff x="0" y="0"/>
            <a:chExt cx="24402453" cy="2033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402414" cy="203327"/>
            </a:xfrm>
            <a:custGeom>
              <a:avLst/>
              <a:gdLst/>
              <a:ahLst/>
              <a:cxnLst/>
              <a:rect l="l" t="t" r="r" b="b"/>
              <a:pathLst>
                <a:path w="24402414" h="203327">
                  <a:moveTo>
                    <a:pt x="0" y="0"/>
                  </a:moveTo>
                  <a:lnTo>
                    <a:pt x="24402414" y="0"/>
                  </a:lnTo>
                  <a:lnTo>
                    <a:pt x="24402414" y="203327"/>
                  </a:lnTo>
                  <a:lnTo>
                    <a:pt x="0" y="203327"/>
                  </a:lnTo>
                  <a:close/>
                </a:path>
              </a:pathLst>
            </a:custGeom>
            <a:solidFill>
              <a:srgbClr val="B0BEC5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3493" y="489518"/>
            <a:ext cx="16654853" cy="1549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 spc="39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Fragmented hospital data slows clinicians</a:t>
            </a:r>
          </a:p>
          <a:p>
            <a:pPr algn="l">
              <a:lnSpc>
                <a:spcPts val="5764"/>
              </a:lnSpc>
            </a:pPr>
            <a:r>
              <a:rPr lang="en-US" sz="4803" b="1" spc="39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and invites LLM errors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23493" y="2326815"/>
            <a:ext cx="9718386" cy="7300960"/>
            <a:chOff x="0" y="0"/>
            <a:chExt cx="12957848" cy="97346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57810" cy="9734550"/>
            </a:xfrm>
            <a:custGeom>
              <a:avLst/>
              <a:gdLst/>
              <a:ahLst/>
              <a:cxnLst/>
              <a:rect l="l" t="t" r="r" b="b"/>
              <a:pathLst>
                <a:path w="12957810" h="9734550">
                  <a:moveTo>
                    <a:pt x="0" y="144145"/>
                  </a:moveTo>
                  <a:cubicBezTo>
                    <a:pt x="0" y="64516"/>
                    <a:pt x="64516" y="0"/>
                    <a:pt x="144145" y="0"/>
                  </a:cubicBezTo>
                  <a:lnTo>
                    <a:pt x="12813664" y="0"/>
                  </a:lnTo>
                  <a:cubicBezTo>
                    <a:pt x="12893294" y="0"/>
                    <a:pt x="12957810" y="64516"/>
                    <a:pt x="12957810" y="144145"/>
                  </a:cubicBezTo>
                  <a:lnTo>
                    <a:pt x="12957810" y="9590405"/>
                  </a:lnTo>
                  <a:cubicBezTo>
                    <a:pt x="12957810" y="9670034"/>
                    <a:pt x="12893294" y="9734550"/>
                    <a:pt x="12813664" y="9734550"/>
                  </a:cubicBezTo>
                  <a:lnTo>
                    <a:pt x="144145" y="9734550"/>
                  </a:lnTo>
                  <a:cubicBezTo>
                    <a:pt x="64516" y="9734677"/>
                    <a:pt x="0" y="9670034"/>
                    <a:pt x="0" y="9590405"/>
                  </a:cubicBezTo>
                  <a:close/>
                </a:path>
              </a:pathLst>
            </a:custGeom>
            <a:solidFill>
              <a:srgbClr val="DBE4F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204779" y="2641435"/>
            <a:ext cx="8955805" cy="524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4779" y="3201657"/>
            <a:ext cx="8955805" cy="469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2789" lvl="1" indent="-226395" algn="l">
              <a:lnSpc>
                <a:spcPts val="3749"/>
              </a:lnSpc>
              <a:buFont typeface="Arial"/>
              <a:buChar char="•"/>
            </a:pPr>
            <a:r>
              <a:rPr lang="en-US" sz="2499" b="1">
                <a:solidFill>
                  <a:srgbClr val="37474F"/>
                </a:solidFill>
                <a:latin typeface="Carlito Bold"/>
                <a:ea typeface="Carlito Bold"/>
                <a:cs typeface="Carlito Bold"/>
                <a:sym typeface="Carlito Bold"/>
              </a:rPr>
              <a:t>Fragmented records:</a:t>
            </a:r>
            <a:r>
              <a:rPr lang="en-US" sz="2499">
                <a:solidFill>
                  <a:srgbClr val="37474F"/>
                </a:solidFill>
                <a:latin typeface="Carlito"/>
                <a:ea typeface="Carlito"/>
                <a:cs typeface="Carlito"/>
                <a:sym typeface="Carlito"/>
              </a:rPr>
              <a:t> patient information scattered across notes, labs, and medication orders</a:t>
            </a:r>
          </a:p>
          <a:p>
            <a:pPr marL="452789" lvl="1" indent="-226395" algn="l">
              <a:lnSpc>
                <a:spcPts val="3749"/>
              </a:lnSpc>
              <a:buFont typeface="Arial"/>
              <a:buChar char="•"/>
            </a:pPr>
            <a:r>
              <a:rPr lang="en-US" sz="2499" b="1">
                <a:solidFill>
                  <a:srgbClr val="37474F"/>
                </a:solidFill>
                <a:latin typeface="Carlito Bold"/>
                <a:ea typeface="Carlito Bold"/>
                <a:cs typeface="Carlito Bold"/>
                <a:sym typeface="Carlito Bold"/>
              </a:rPr>
              <a:t>Time pressure:</a:t>
            </a:r>
            <a:r>
              <a:rPr lang="en-US" sz="2499">
                <a:solidFill>
                  <a:srgbClr val="37474F"/>
                </a:solidFill>
                <a:latin typeface="Carlito"/>
                <a:ea typeface="Carlito"/>
                <a:cs typeface="Carlito"/>
                <a:sym typeface="Carlito"/>
              </a:rPr>
              <a:t> manual chart review is slow</a:t>
            </a:r>
          </a:p>
          <a:p>
            <a:pPr marL="452789" lvl="1" indent="-226395" algn="l">
              <a:lnSpc>
                <a:spcPts val="3749"/>
              </a:lnSpc>
              <a:buFont typeface="Arial"/>
              <a:buChar char="•"/>
            </a:pPr>
            <a:r>
              <a:rPr lang="en-US" sz="2499" b="1">
                <a:solidFill>
                  <a:srgbClr val="37474F"/>
                </a:solidFill>
                <a:latin typeface="Carlito Bold"/>
                <a:ea typeface="Carlito Bold"/>
                <a:cs typeface="Carlito Bold"/>
                <a:sym typeface="Carlito Bold"/>
              </a:rPr>
              <a:t>LLM hallucinations:</a:t>
            </a:r>
            <a:r>
              <a:rPr lang="en-US" sz="2499">
                <a:solidFill>
                  <a:srgbClr val="37474F"/>
                </a:solidFill>
                <a:latin typeface="Carlito"/>
                <a:ea typeface="Carlito"/>
                <a:cs typeface="Carlito"/>
                <a:sym typeface="Carlito"/>
              </a:rPr>
              <a:t> single-shot summaries can produce unsupported medical or dosage details</a:t>
            </a:r>
          </a:p>
          <a:p>
            <a:pPr marL="452789" lvl="1" indent="-226395" algn="l">
              <a:lnSpc>
                <a:spcPts val="3749"/>
              </a:lnSpc>
              <a:buFont typeface="Arial"/>
              <a:buChar char="•"/>
            </a:pPr>
            <a:r>
              <a:rPr lang="en-US" sz="2499" b="1">
                <a:solidFill>
                  <a:srgbClr val="37474F"/>
                </a:solidFill>
                <a:latin typeface="Carlito Bold"/>
                <a:ea typeface="Carlito Bold"/>
                <a:cs typeface="Carlito Bold"/>
                <a:sym typeface="Carlito Bold"/>
              </a:rPr>
              <a:t>Data integration:</a:t>
            </a:r>
            <a:r>
              <a:rPr lang="en-US" sz="2499">
                <a:solidFill>
                  <a:srgbClr val="37474F"/>
                </a:solidFill>
                <a:latin typeface="Carlito"/>
                <a:ea typeface="Carlito"/>
                <a:cs typeface="Carlito"/>
                <a:sym typeface="Carlito"/>
              </a:rPr>
              <a:t> structured data and unstructured or scanned notes are hard to process together</a:t>
            </a:r>
          </a:p>
          <a:p>
            <a:pPr marL="452789" lvl="1" indent="-226395" algn="l">
              <a:lnSpc>
                <a:spcPts val="3749"/>
              </a:lnSpc>
              <a:buFont typeface="Arial"/>
              <a:buChar char="•"/>
            </a:pPr>
            <a:r>
              <a:rPr lang="en-US" sz="2499" b="1">
                <a:solidFill>
                  <a:srgbClr val="37474F"/>
                </a:solidFill>
                <a:latin typeface="Carlito Bold"/>
                <a:ea typeface="Carlito Bold"/>
                <a:cs typeface="Carlito Bold"/>
                <a:sym typeface="Carlito Bold"/>
              </a:rPr>
              <a:t>Longitudinal gaps:</a:t>
            </a:r>
            <a:r>
              <a:rPr lang="en-US" sz="2499">
                <a:solidFill>
                  <a:srgbClr val="37474F"/>
                </a:solidFill>
                <a:latin typeface="Carlito"/>
                <a:ea typeface="Carlito"/>
                <a:cs typeface="Carlito"/>
                <a:sym typeface="Carlito"/>
              </a:rPr>
              <a:t> encounter-by-encounter summaries hide cross-visit trends</a:t>
            </a:r>
          </a:p>
          <a:p>
            <a:pPr marL="452789" lvl="1" indent="-226395" algn="l">
              <a:lnSpc>
                <a:spcPts val="3749"/>
              </a:lnSpc>
              <a:buFont typeface="Arial"/>
              <a:buChar char="•"/>
            </a:pPr>
            <a:r>
              <a:rPr lang="en-US" sz="2499" b="1">
                <a:solidFill>
                  <a:srgbClr val="37474F"/>
                </a:solidFill>
                <a:latin typeface="Carlito Bold"/>
                <a:ea typeface="Carlito Bold"/>
                <a:cs typeface="Carlito Bold"/>
                <a:sym typeface="Carlito Bold"/>
              </a:rPr>
              <a:t>Clinical need:</a:t>
            </a:r>
            <a:r>
              <a:rPr lang="en-US" sz="2499">
                <a:solidFill>
                  <a:srgbClr val="37474F"/>
                </a:solidFill>
                <a:latin typeface="Carlito"/>
                <a:ea typeface="Carlito"/>
                <a:cs typeface="Carlito"/>
                <a:sym typeface="Carlito"/>
              </a:rPr>
              <a:t> concise pre-visit information and risk/insight flags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84973" y="2312508"/>
            <a:ext cx="6507518" cy="7329554"/>
            <a:chOff x="0" y="0"/>
            <a:chExt cx="8676691" cy="977273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76767" cy="9772777"/>
            </a:xfrm>
            <a:custGeom>
              <a:avLst/>
              <a:gdLst/>
              <a:ahLst/>
              <a:cxnLst/>
              <a:rect l="l" t="t" r="r" b="b"/>
              <a:pathLst>
                <a:path w="8676767" h="9772777">
                  <a:moveTo>
                    <a:pt x="0" y="144780"/>
                  </a:moveTo>
                  <a:cubicBezTo>
                    <a:pt x="0" y="64770"/>
                    <a:pt x="64770" y="0"/>
                    <a:pt x="144780" y="0"/>
                  </a:cubicBezTo>
                  <a:lnTo>
                    <a:pt x="8531987" y="0"/>
                  </a:lnTo>
                  <a:cubicBezTo>
                    <a:pt x="8611870" y="0"/>
                    <a:pt x="8676767" y="64770"/>
                    <a:pt x="8676767" y="144780"/>
                  </a:cubicBezTo>
                  <a:lnTo>
                    <a:pt x="8676767" y="9627997"/>
                  </a:lnTo>
                  <a:cubicBezTo>
                    <a:pt x="8676767" y="9707880"/>
                    <a:pt x="8611997" y="9772777"/>
                    <a:pt x="8531987" y="9772777"/>
                  </a:cubicBezTo>
                  <a:lnTo>
                    <a:pt x="144780" y="9772777"/>
                  </a:lnTo>
                  <a:cubicBezTo>
                    <a:pt x="64897" y="9772777"/>
                    <a:pt x="0" y="9708007"/>
                    <a:pt x="0" y="962799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510" r="-94509"/>
              </a:stretch>
            </a:blipFill>
            <a:ln w="28597" cap="sq">
              <a:solidFill>
                <a:srgbClr val="C1CAD6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1409159" y="2670029"/>
            <a:ext cx="5659155" cy="524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Need → Solution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09159" y="3258826"/>
            <a:ext cx="6069035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Grounded, automated synthesis and cross-visit trends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09159" y="3964305"/>
            <a:ext cx="5659155" cy="28594"/>
            <a:chOff x="0" y="0"/>
            <a:chExt cx="7545540" cy="381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545578" cy="38100"/>
            </a:xfrm>
            <a:custGeom>
              <a:avLst/>
              <a:gdLst/>
              <a:ahLst/>
              <a:cxnLst/>
              <a:rect l="l" t="t" r="r" b="b"/>
              <a:pathLst>
                <a:path w="7545578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526528" y="0"/>
                  </a:lnTo>
                  <a:cubicBezTo>
                    <a:pt x="7537069" y="0"/>
                    <a:pt x="7545578" y="8509"/>
                    <a:pt x="7545578" y="19050"/>
                  </a:cubicBezTo>
                  <a:cubicBezTo>
                    <a:pt x="7545578" y="29591"/>
                    <a:pt x="7537069" y="38100"/>
                    <a:pt x="752652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0BEC5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1409159" y="4093235"/>
            <a:ext cx="5659155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LangGraph agent pipeline, RAG-grounded insights, interactive dashboards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09159" y="7964434"/>
            <a:ext cx="5659155" cy="125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Objective: convert fragmented hospital data into structured, grounded and actionable clinical information.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0"/>
            <a:ext cx="18301840" cy="152524"/>
            <a:chOff x="0" y="0"/>
            <a:chExt cx="24402453" cy="2033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02414" cy="203327"/>
            </a:xfrm>
            <a:custGeom>
              <a:avLst/>
              <a:gdLst/>
              <a:ahLst/>
              <a:cxnLst/>
              <a:rect l="l" t="t" r="r" b="b"/>
              <a:pathLst>
                <a:path w="24402414" h="203327">
                  <a:moveTo>
                    <a:pt x="0" y="0"/>
                  </a:moveTo>
                  <a:lnTo>
                    <a:pt x="24402414" y="0"/>
                  </a:lnTo>
                  <a:lnTo>
                    <a:pt x="24402414" y="203327"/>
                  </a:lnTo>
                  <a:lnTo>
                    <a:pt x="0" y="203327"/>
                  </a:lnTo>
                  <a:close/>
                </a:path>
              </a:pathLst>
            </a:custGeom>
            <a:solidFill>
              <a:srgbClr val="B0BEC5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3493" y="489518"/>
            <a:ext cx="16654853" cy="817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 spc="39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System architecture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23493" y="1685306"/>
            <a:ext cx="5246589" cy="843620"/>
            <a:chOff x="0" y="0"/>
            <a:chExt cx="6995452" cy="11248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95414" cy="1124839"/>
            </a:xfrm>
            <a:custGeom>
              <a:avLst/>
              <a:gdLst/>
              <a:ahLst/>
              <a:cxnLst/>
              <a:rect l="l" t="t" r="r" b="b"/>
              <a:pathLst>
                <a:path w="6995414" h="1124839">
                  <a:moveTo>
                    <a:pt x="0" y="0"/>
                  </a:moveTo>
                  <a:lnTo>
                    <a:pt x="6995414" y="0"/>
                  </a:lnTo>
                  <a:lnTo>
                    <a:pt x="6995414" y="1124839"/>
                  </a:lnTo>
                  <a:lnTo>
                    <a:pt x="0" y="1124839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823493" y="1818837"/>
            <a:ext cx="5246589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Hospital/EHR data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527625" y="1685306"/>
            <a:ext cx="5246589" cy="843620"/>
            <a:chOff x="0" y="0"/>
            <a:chExt cx="6995452" cy="1124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95414" cy="1124839"/>
            </a:xfrm>
            <a:custGeom>
              <a:avLst/>
              <a:gdLst/>
              <a:ahLst/>
              <a:cxnLst/>
              <a:rect l="l" t="t" r="r" b="b"/>
              <a:pathLst>
                <a:path w="6995414" h="1124839">
                  <a:moveTo>
                    <a:pt x="0" y="0"/>
                  </a:moveTo>
                  <a:lnTo>
                    <a:pt x="6995414" y="0"/>
                  </a:lnTo>
                  <a:lnTo>
                    <a:pt x="6995414" y="1124839"/>
                  </a:lnTo>
                  <a:lnTo>
                    <a:pt x="0" y="1124839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6527625" y="1818837"/>
            <a:ext cx="5246589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Database / data layer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231757" y="1685306"/>
            <a:ext cx="5246589" cy="843620"/>
            <a:chOff x="0" y="0"/>
            <a:chExt cx="6995452" cy="11248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95414" cy="1124839"/>
            </a:xfrm>
            <a:custGeom>
              <a:avLst/>
              <a:gdLst/>
              <a:ahLst/>
              <a:cxnLst/>
              <a:rect l="l" t="t" r="r" b="b"/>
              <a:pathLst>
                <a:path w="6995414" h="1124839">
                  <a:moveTo>
                    <a:pt x="0" y="0"/>
                  </a:moveTo>
                  <a:lnTo>
                    <a:pt x="6995414" y="0"/>
                  </a:lnTo>
                  <a:lnTo>
                    <a:pt x="6995414" y="1124839"/>
                  </a:lnTo>
                  <a:lnTo>
                    <a:pt x="0" y="1124839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2231757" y="1818837"/>
            <a:ext cx="5246589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FastAPI backend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5950" y="2724417"/>
            <a:ext cx="17569948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↓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23493" y="3496475"/>
            <a:ext cx="8098650" cy="3190094"/>
            <a:chOff x="0" y="0"/>
            <a:chExt cx="10798200" cy="425345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98175" cy="4253484"/>
            </a:xfrm>
            <a:custGeom>
              <a:avLst/>
              <a:gdLst/>
              <a:ahLst/>
              <a:cxnLst/>
              <a:rect l="l" t="t" r="r" b="b"/>
              <a:pathLst>
                <a:path w="10798175" h="4253484">
                  <a:moveTo>
                    <a:pt x="0" y="0"/>
                  </a:moveTo>
                  <a:lnTo>
                    <a:pt x="10798175" y="0"/>
                  </a:lnTo>
                  <a:lnTo>
                    <a:pt x="10798175" y="4253484"/>
                  </a:lnTo>
                  <a:lnTo>
                    <a:pt x="0" y="4253484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2787856" y="3660886"/>
            <a:ext cx="4169926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Patient GenAI pipeline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2265" y="4338828"/>
            <a:ext cx="7641107" cy="211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Extract → Retrieve (FAISS / RAG) → Summarize (LLM) → Flag</a:t>
            </a:r>
          </a:p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↓</a:t>
            </a:r>
          </a:p>
          <a:p>
            <a:pPr algn="ctr">
              <a:lnSpc>
                <a:spcPts val="3039"/>
              </a:lnSpc>
            </a:pPr>
            <a:r>
              <a:rPr lang="en-US" sz="2026" b="1">
                <a:solidFill>
                  <a:srgbClr val="546E7A"/>
                </a:solidFill>
                <a:latin typeface="Carlito Bold"/>
                <a:ea typeface="Carlito Bold"/>
                <a:cs typeface="Carlito Bold"/>
                <a:sym typeface="Carlito Bold"/>
              </a:rPr>
              <a:t>Structured JSON response</a:t>
            </a:r>
          </a:p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React frontend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79696" y="3496475"/>
            <a:ext cx="8098650" cy="3190094"/>
            <a:chOff x="0" y="0"/>
            <a:chExt cx="10798200" cy="425345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98175" cy="4253484"/>
            </a:xfrm>
            <a:custGeom>
              <a:avLst/>
              <a:gdLst/>
              <a:ahLst/>
              <a:cxnLst/>
              <a:rect l="l" t="t" r="r" b="b"/>
              <a:pathLst>
                <a:path w="10798175" h="4253484">
                  <a:moveTo>
                    <a:pt x="0" y="0"/>
                  </a:moveTo>
                  <a:lnTo>
                    <a:pt x="10798175" y="0"/>
                  </a:lnTo>
                  <a:lnTo>
                    <a:pt x="10798175" y="4253484"/>
                  </a:lnTo>
                  <a:lnTo>
                    <a:pt x="0" y="4253484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1080811" y="3660886"/>
            <a:ext cx="469642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Parallel analytics pipeline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08468" y="4338828"/>
            <a:ext cx="7641107" cy="1573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Database → Pandas analytics → aggregated metrics → JSON</a:t>
            </a:r>
          </a:p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↓</a:t>
            </a:r>
          </a:p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React + Plotly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5950" y="6882051"/>
            <a:ext cx="17569948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↓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23493" y="7654109"/>
            <a:ext cx="16654853" cy="843620"/>
            <a:chOff x="0" y="0"/>
            <a:chExt cx="22206471" cy="112482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206458" cy="1124839"/>
            </a:xfrm>
            <a:custGeom>
              <a:avLst/>
              <a:gdLst/>
              <a:ahLst/>
              <a:cxnLst/>
              <a:rect l="l" t="t" r="r" b="b"/>
              <a:pathLst>
                <a:path w="22206458" h="1124839">
                  <a:moveTo>
                    <a:pt x="0" y="0"/>
                  </a:moveTo>
                  <a:lnTo>
                    <a:pt x="22206458" y="0"/>
                  </a:lnTo>
                  <a:lnTo>
                    <a:pt x="22206458" y="1124839"/>
                  </a:lnTo>
                  <a:lnTo>
                    <a:pt x="0" y="1124839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823493" y="7787640"/>
            <a:ext cx="16654853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026" b="1">
                <a:solidFill>
                  <a:srgbClr val="546E7A"/>
                </a:solidFill>
                <a:latin typeface="Carlito Bold"/>
                <a:ea typeface="Carlito Bold"/>
                <a:cs typeface="Carlito Bold"/>
                <a:sym typeface="Carlito Bold"/>
              </a:rPr>
              <a:t>Clinician / administrator dashboard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0" y="0"/>
            <a:ext cx="18301840" cy="152524"/>
            <a:chOff x="0" y="0"/>
            <a:chExt cx="24402453" cy="20336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4402414" cy="203327"/>
            </a:xfrm>
            <a:custGeom>
              <a:avLst/>
              <a:gdLst/>
              <a:ahLst/>
              <a:cxnLst/>
              <a:rect l="l" t="t" r="r" b="b"/>
              <a:pathLst>
                <a:path w="24402414" h="203327">
                  <a:moveTo>
                    <a:pt x="0" y="0"/>
                  </a:moveTo>
                  <a:lnTo>
                    <a:pt x="24402414" y="0"/>
                  </a:lnTo>
                  <a:lnTo>
                    <a:pt x="24402414" y="203327"/>
                  </a:lnTo>
                  <a:lnTo>
                    <a:pt x="0" y="203327"/>
                  </a:lnTo>
                  <a:close/>
                </a:path>
              </a:pathLst>
            </a:custGeom>
            <a:solidFill>
              <a:srgbClr val="B0BEC5"/>
            </a:solid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3493" y="489518"/>
            <a:ext cx="16654853" cy="817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 spc="39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GenAI + RAG pipeline grounds every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3493" y="1499502"/>
            <a:ext cx="17478346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Patient data + clinical question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23493" y="2271551"/>
            <a:ext cx="5551618" cy="1029500"/>
            <a:chOff x="0" y="0"/>
            <a:chExt cx="7402157" cy="13726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2195" cy="1372616"/>
            </a:xfrm>
            <a:custGeom>
              <a:avLst/>
              <a:gdLst/>
              <a:ahLst/>
              <a:cxnLst/>
              <a:rect l="l" t="t" r="r" b="b"/>
              <a:pathLst>
                <a:path w="7402195" h="1372616">
                  <a:moveTo>
                    <a:pt x="0" y="0"/>
                  </a:moveTo>
                  <a:lnTo>
                    <a:pt x="7402195" y="0"/>
                  </a:lnTo>
                  <a:lnTo>
                    <a:pt x="7402195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C1CAD6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39581" y="2287638"/>
            <a:ext cx="5519442" cy="997334"/>
            <a:chOff x="0" y="0"/>
            <a:chExt cx="7359256" cy="13297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59269" cy="1329817"/>
            </a:xfrm>
            <a:custGeom>
              <a:avLst/>
              <a:gdLst/>
              <a:ahLst/>
              <a:cxnLst/>
              <a:rect l="l" t="t" r="r" b="b"/>
              <a:pathLst>
                <a:path w="7359269" h="1329817">
                  <a:moveTo>
                    <a:pt x="0" y="0"/>
                  </a:moveTo>
                  <a:lnTo>
                    <a:pt x="7359269" y="0"/>
                  </a:lnTo>
                  <a:lnTo>
                    <a:pt x="7359269" y="1329817"/>
                  </a:lnTo>
                  <a:lnTo>
                    <a:pt x="0" y="1329817"/>
                  </a:lnTo>
                  <a:close/>
                </a:path>
              </a:pathLst>
            </a:custGeom>
            <a:solidFill>
              <a:srgbClr val="DBE4F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709824" y="2498026"/>
            <a:ext cx="2693889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Embed → Search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3493" y="3393272"/>
            <a:ext cx="5551618" cy="88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Embedding model → FAISS similarity search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493" y="4319759"/>
            <a:ext cx="5551618" cy="125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sentence-transformers turn text into vectors; FAISS performs efficient top-k similarity search over clinical guidelines.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375111" y="2271551"/>
            <a:ext cx="5551618" cy="1029500"/>
            <a:chOff x="0" y="0"/>
            <a:chExt cx="7402157" cy="13726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02195" cy="1372616"/>
            </a:xfrm>
            <a:custGeom>
              <a:avLst/>
              <a:gdLst/>
              <a:ahLst/>
              <a:cxnLst/>
              <a:rect l="l" t="t" r="r" b="b"/>
              <a:pathLst>
                <a:path w="7402195" h="1372616">
                  <a:moveTo>
                    <a:pt x="0" y="0"/>
                  </a:moveTo>
                  <a:lnTo>
                    <a:pt x="7402195" y="0"/>
                  </a:lnTo>
                  <a:lnTo>
                    <a:pt x="7402195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C1CAD6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91199" y="2287638"/>
            <a:ext cx="5519442" cy="997334"/>
            <a:chOff x="0" y="0"/>
            <a:chExt cx="7359256" cy="132977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59269" cy="1329817"/>
            </a:xfrm>
            <a:custGeom>
              <a:avLst/>
              <a:gdLst/>
              <a:ahLst/>
              <a:cxnLst/>
              <a:rect l="l" t="t" r="r" b="b"/>
              <a:pathLst>
                <a:path w="7359269" h="1329817">
                  <a:moveTo>
                    <a:pt x="0" y="0"/>
                  </a:moveTo>
                  <a:lnTo>
                    <a:pt x="7359269" y="0"/>
                  </a:lnTo>
                  <a:lnTo>
                    <a:pt x="7359269" y="1329817"/>
                  </a:lnTo>
                  <a:lnTo>
                    <a:pt x="0" y="1329817"/>
                  </a:lnTo>
                  <a:close/>
                </a:path>
              </a:pathLst>
            </a:custGeom>
            <a:solidFill>
              <a:srgbClr val="DBE4F0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8058140" y="2498026"/>
            <a:ext cx="3100502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Retrieve → Generate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75111" y="3393272"/>
            <a:ext cx="5551618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Guideline context → LLM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5111" y="3908079"/>
            <a:ext cx="5551618" cy="86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RAG retrieves relevant clinical information before generation so the LLM has supporting context.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926729" y="2271551"/>
            <a:ext cx="5551618" cy="1029500"/>
            <a:chOff x="0" y="0"/>
            <a:chExt cx="7402157" cy="137266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02195" cy="1372616"/>
            </a:xfrm>
            <a:custGeom>
              <a:avLst/>
              <a:gdLst/>
              <a:ahLst/>
              <a:cxnLst/>
              <a:rect l="l" t="t" r="r" b="b"/>
              <a:pathLst>
                <a:path w="7402195" h="1372616">
                  <a:moveTo>
                    <a:pt x="0" y="0"/>
                  </a:moveTo>
                  <a:lnTo>
                    <a:pt x="7402195" y="0"/>
                  </a:lnTo>
                  <a:lnTo>
                    <a:pt x="7402195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C1CAD6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942816" y="2287638"/>
            <a:ext cx="5519442" cy="997334"/>
            <a:chOff x="0" y="0"/>
            <a:chExt cx="7359256" cy="132977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59269" cy="1329817"/>
            </a:xfrm>
            <a:custGeom>
              <a:avLst/>
              <a:gdLst/>
              <a:ahLst/>
              <a:cxnLst/>
              <a:rect l="l" t="t" r="r" b="b"/>
              <a:pathLst>
                <a:path w="7359269" h="1329817">
                  <a:moveTo>
                    <a:pt x="0" y="0"/>
                  </a:moveTo>
                  <a:lnTo>
                    <a:pt x="7359269" y="0"/>
                  </a:lnTo>
                  <a:lnTo>
                    <a:pt x="7359269" y="1329817"/>
                  </a:lnTo>
                  <a:lnTo>
                    <a:pt x="0" y="1329817"/>
                  </a:lnTo>
                  <a:close/>
                </a:path>
              </a:pathLst>
            </a:custGeom>
            <a:solidFill>
              <a:srgbClr val="DBE4F0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3829890" y="2498026"/>
            <a:ext cx="2660380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Structure → Flag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926729" y="3393272"/>
            <a:ext cx="5551618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Structured JSON → risk/insight flags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926729" y="3908079"/>
            <a:ext cx="5551618" cy="86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Prompt engineering constrains the LLM to predictable JSON schemas.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769945" y="6859076"/>
            <a:ext cx="12761950" cy="2145314"/>
            <a:chOff x="0" y="0"/>
            <a:chExt cx="14059556" cy="236344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059546" cy="2363470"/>
            </a:xfrm>
            <a:custGeom>
              <a:avLst/>
              <a:gdLst/>
              <a:ahLst/>
              <a:cxnLst/>
              <a:rect l="l" t="t" r="r" b="b"/>
              <a:pathLst>
                <a:path w="14059546" h="2363470">
                  <a:moveTo>
                    <a:pt x="0" y="144145"/>
                  </a:moveTo>
                  <a:cubicBezTo>
                    <a:pt x="0" y="64516"/>
                    <a:pt x="40847" y="0"/>
                    <a:pt x="91262" y="0"/>
                  </a:cubicBezTo>
                  <a:lnTo>
                    <a:pt x="13968285" y="0"/>
                  </a:lnTo>
                  <a:cubicBezTo>
                    <a:pt x="14018701" y="0"/>
                    <a:pt x="14059546" y="64516"/>
                    <a:pt x="14059546" y="144145"/>
                  </a:cubicBezTo>
                  <a:lnTo>
                    <a:pt x="14059546" y="2219325"/>
                  </a:lnTo>
                  <a:cubicBezTo>
                    <a:pt x="14059546" y="2298954"/>
                    <a:pt x="14018701" y="2363470"/>
                    <a:pt x="13968285" y="2363470"/>
                  </a:cubicBezTo>
                  <a:lnTo>
                    <a:pt x="91262" y="2363470"/>
                  </a:lnTo>
                  <a:cubicBezTo>
                    <a:pt x="40847" y="2363470"/>
                    <a:pt x="0" y="2298954"/>
                    <a:pt x="0" y="2219325"/>
                  </a:cubicBezTo>
                  <a:close/>
                </a:path>
              </a:pathLst>
            </a:custGeom>
            <a:solidFill>
              <a:srgbClr val="DBE4F0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3032893" y="7230230"/>
            <a:ext cx="12236054" cy="562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4"/>
              </a:lnSpc>
            </a:pPr>
            <a:r>
              <a:rPr lang="en-US" sz="3270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LangGraph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32893" y="7804150"/>
            <a:ext cx="12499002" cy="659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5"/>
              </a:lnSpc>
            </a:pPr>
            <a:r>
              <a:rPr lang="en-US" sz="3270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Extract → Verify → Retrieve → Summarize → Flag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0" y="0"/>
            <a:ext cx="18301840" cy="152524"/>
            <a:chOff x="0" y="0"/>
            <a:chExt cx="24402453" cy="20336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4402414" cy="203327"/>
            </a:xfrm>
            <a:custGeom>
              <a:avLst/>
              <a:gdLst/>
              <a:ahLst/>
              <a:cxnLst/>
              <a:rect l="l" t="t" r="r" b="b"/>
              <a:pathLst>
                <a:path w="24402414" h="203327">
                  <a:moveTo>
                    <a:pt x="0" y="0"/>
                  </a:moveTo>
                  <a:lnTo>
                    <a:pt x="24402414" y="0"/>
                  </a:lnTo>
                  <a:lnTo>
                    <a:pt x="24402414" y="203327"/>
                  </a:lnTo>
                  <a:lnTo>
                    <a:pt x="0" y="203327"/>
                  </a:lnTo>
                  <a:close/>
                </a:path>
              </a:pathLst>
            </a:custGeom>
            <a:solidFill>
              <a:srgbClr val="B0BEC5"/>
            </a:solid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3493" y="489518"/>
            <a:ext cx="16654853" cy="817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 spc="39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Backend, database and analytics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09196" y="1580445"/>
            <a:ext cx="8127254" cy="8061617"/>
            <a:chOff x="0" y="0"/>
            <a:chExt cx="10836338" cy="107488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836275" cy="10748772"/>
            </a:xfrm>
            <a:custGeom>
              <a:avLst/>
              <a:gdLst/>
              <a:ahLst/>
              <a:cxnLst/>
              <a:rect l="l" t="t" r="r" b="b"/>
              <a:pathLst>
                <a:path w="10836275" h="10748772">
                  <a:moveTo>
                    <a:pt x="0" y="144653"/>
                  </a:moveTo>
                  <a:cubicBezTo>
                    <a:pt x="0" y="64770"/>
                    <a:pt x="64770" y="0"/>
                    <a:pt x="144653" y="0"/>
                  </a:cubicBezTo>
                  <a:lnTo>
                    <a:pt x="10691622" y="0"/>
                  </a:lnTo>
                  <a:cubicBezTo>
                    <a:pt x="10771505" y="0"/>
                    <a:pt x="10836275" y="64770"/>
                    <a:pt x="10836275" y="144653"/>
                  </a:cubicBezTo>
                  <a:lnTo>
                    <a:pt x="10836275" y="10604119"/>
                  </a:lnTo>
                  <a:cubicBezTo>
                    <a:pt x="10836275" y="10684001"/>
                    <a:pt x="10771505" y="10748772"/>
                    <a:pt x="10691622" y="10748772"/>
                  </a:cubicBezTo>
                  <a:lnTo>
                    <a:pt x="144653" y="10748772"/>
                  </a:lnTo>
                  <a:cubicBezTo>
                    <a:pt x="64770" y="10748772"/>
                    <a:pt x="0" y="10684002"/>
                    <a:pt x="0" y="1060411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267" r="-77268"/>
              </a:stretch>
            </a:blipFill>
            <a:ln w="28597" cap="sq">
              <a:solidFill>
                <a:srgbClr val="C1CAD6"/>
              </a:solidFill>
              <a:prstDash val="solid"/>
              <a:miter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1271511" y="1993259"/>
            <a:ext cx="7202624" cy="569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Backend &amp; database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71511" y="3099359"/>
            <a:ext cx="7202624" cy="575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348" lvl="1" indent="-271674" algn="l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FastAPI REST endpoints link frontend, databases, analytics, and AI processing</a:t>
            </a:r>
          </a:p>
          <a:p>
            <a:pPr marL="543348" lvl="1" indent="-271674" algn="l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Uvicorn &amp; Pydantic provide asynchronous serving and strict request/response validation</a:t>
            </a:r>
          </a:p>
          <a:p>
            <a:pPr marL="543348" lvl="1" indent="-271674" algn="l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SQLAlchemy ORM maps Python models to tables</a:t>
            </a:r>
          </a:p>
          <a:p>
            <a:pPr marL="543348" lvl="1" indent="-271674" algn="l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The database layer holds patient demographics, clinical encounters, and AI-generated risk/insight information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65399" y="1580445"/>
            <a:ext cx="8127254" cy="8061617"/>
            <a:chOff x="0" y="0"/>
            <a:chExt cx="10836338" cy="107488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36275" cy="10748772"/>
            </a:xfrm>
            <a:custGeom>
              <a:avLst/>
              <a:gdLst/>
              <a:ahLst/>
              <a:cxnLst/>
              <a:rect l="l" t="t" r="r" b="b"/>
              <a:pathLst>
                <a:path w="10836275" h="10748772">
                  <a:moveTo>
                    <a:pt x="0" y="144653"/>
                  </a:moveTo>
                  <a:cubicBezTo>
                    <a:pt x="0" y="64770"/>
                    <a:pt x="64770" y="0"/>
                    <a:pt x="144653" y="0"/>
                  </a:cubicBezTo>
                  <a:lnTo>
                    <a:pt x="10691622" y="0"/>
                  </a:lnTo>
                  <a:cubicBezTo>
                    <a:pt x="10771505" y="0"/>
                    <a:pt x="10836275" y="64770"/>
                    <a:pt x="10836275" y="144653"/>
                  </a:cubicBezTo>
                  <a:lnTo>
                    <a:pt x="10836275" y="10604119"/>
                  </a:lnTo>
                  <a:cubicBezTo>
                    <a:pt x="10836275" y="10684001"/>
                    <a:pt x="10771505" y="10748772"/>
                    <a:pt x="10691622" y="10748772"/>
                  </a:cubicBezTo>
                  <a:lnTo>
                    <a:pt x="144653" y="10748772"/>
                  </a:lnTo>
                  <a:cubicBezTo>
                    <a:pt x="64770" y="10748772"/>
                    <a:pt x="0" y="10684002"/>
                    <a:pt x="0" y="1060411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267" r="-77268"/>
              </a:stretch>
            </a:blipFill>
            <a:ln w="28597" cap="sq">
              <a:solidFill>
                <a:srgbClr val="C1CAD6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9827704" y="1993259"/>
            <a:ext cx="7202624" cy="569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Ingestion &amp; analytics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27704" y="3099359"/>
            <a:ext cx="7202624" cy="403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348" lvl="1" indent="-271674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Python and Pandas ingest and clean healthcare datasets</a:t>
            </a:r>
          </a:p>
          <a:p>
            <a:pPr marL="543348" lvl="1" indent="-271674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Hospital-level aggregation uses groupby for department patient counts, average length of stay, and operational metrics</a:t>
            </a:r>
          </a:p>
          <a:p>
            <a:pPr marL="543348" lvl="1" indent="-271674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JSON serialization delivers aggregated results to React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18301840" cy="152524"/>
            <a:chOff x="0" y="0"/>
            <a:chExt cx="24402453" cy="2033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402414" cy="203327"/>
            </a:xfrm>
            <a:custGeom>
              <a:avLst/>
              <a:gdLst/>
              <a:ahLst/>
              <a:cxnLst/>
              <a:rect l="l" t="t" r="r" b="b"/>
              <a:pathLst>
                <a:path w="24402414" h="203327">
                  <a:moveTo>
                    <a:pt x="0" y="0"/>
                  </a:moveTo>
                  <a:lnTo>
                    <a:pt x="24402414" y="0"/>
                  </a:lnTo>
                  <a:lnTo>
                    <a:pt x="24402414" y="203327"/>
                  </a:lnTo>
                  <a:lnTo>
                    <a:pt x="0" y="203327"/>
                  </a:lnTo>
                  <a:close/>
                </a:path>
              </a:pathLst>
            </a:custGeom>
            <a:solidFill>
              <a:srgbClr val="B0BEC5"/>
            </a:solid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3493" y="489518"/>
            <a:ext cx="16654853" cy="817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 spc="39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Frontend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3493" y="1499502"/>
            <a:ext cx="3180778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FastAPI JSON → Axios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3493" y="2073021"/>
            <a:ext cx="852907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dirty="0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Axios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3493" y="2587838"/>
            <a:ext cx="5551618" cy="102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Axios is the HTTP client talking to FastAPI.</a:t>
            </a:r>
          </a:p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useEffect handles async fetching.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75111" y="1499502"/>
            <a:ext cx="3719493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React state → components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75111" y="2073021"/>
            <a:ext cx="5551618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useState / useEffect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75111" y="2587838"/>
            <a:ext cx="5551618" cy="1413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useState holds loading states and results.</a:t>
            </a:r>
          </a:p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React manages the dynamic UI and efficiently reconciles DOM updates.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26729" y="1499502"/>
            <a:ext cx="2882598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Style → dashboard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26729" y="2073021"/>
            <a:ext cx="5551618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Tailwind CSS + Lucide icons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26729" y="2587838"/>
            <a:ext cx="5551618" cy="102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Styling and icons use Tailwind CSS and Lucide React.</a:t>
            </a:r>
          </a:p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Interactive dashboard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23493" y="7540609"/>
            <a:ext cx="8098650" cy="57198"/>
            <a:chOff x="0" y="0"/>
            <a:chExt cx="10798200" cy="762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98175" cy="76200"/>
            </a:xfrm>
            <a:custGeom>
              <a:avLst/>
              <a:gdLst/>
              <a:ahLst/>
              <a:cxnLst/>
              <a:rect l="l" t="t" r="r" b="b"/>
              <a:pathLst>
                <a:path w="10798175" h="76200">
                  <a:moveTo>
                    <a:pt x="0" y="0"/>
                  </a:moveTo>
                  <a:lnTo>
                    <a:pt x="10798175" y="0"/>
                  </a:lnTo>
                  <a:lnTo>
                    <a:pt x="1079817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166651" y="7902416"/>
            <a:ext cx="7412336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Components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6651" y="8417223"/>
            <a:ext cx="7755493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Summary · Risk Flags · Analytics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79696" y="7540609"/>
            <a:ext cx="8098650" cy="57198"/>
            <a:chOff x="0" y="0"/>
            <a:chExt cx="10798200" cy="762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98175" cy="76200"/>
            </a:xfrm>
            <a:custGeom>
              <a:avLst/>
              <a:gdLst/>
              <a:ahLst/>
              <a:cxnLst/>
              <a:rect l="l" t="t" r="r" b="b"/>
              <a:pathLst>
                <a:path w="10798175" h="76200">
                  <a:moveTo>
                    <a:pt x="0" y="0"/>
                  </a:moveTo>
                  <a:lnTo>
                    <a:pt x="10798175" y="0"/>
                  </a:lnTo>
                  <a:lnTo>
                    <a:pt x="1079817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9722853" y="7902416"/>
            <a:ext cx="7412336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Plotly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22853" y="8417223"/>
            <a:ext cx="7412336" cy="86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react-plotly.js renders interactive charts of patient trends and hospital metrics.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0" y="0"/>
            <a:ext cx="18301840" cy="152524"/>
            <a:chOff x="0" y="0"/>
            <a:chExt cx="24402453" cy="2033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402414" cy="203327"/>
            </a:xfrm>
            <a:custGeom>
              <a:avLst/>
              <a:gdLst/>
              <a:ahLst/>
              <a:cxnLst/>
              <a:rect l="l" t="t" r="r" b="b"/>
              <a:pathLst>
                <a:path w="24402414" h="203327">
                  <a:moveTo>
                    <a:pt x="0" y="0"/>
                  </a:moveTo>
                  <a:lnTo>
                    <a:pt x="24402414" y="0"/>
                  </a:lnTo>
                  <a:lnTo>
                    <a:pt x="24402414" y="203327"/>
                  </a:lnTo>
                  <a:lnTo>
                    <a:pt x="0" y="203327"/>
                  </a:lnTo>
                  <a:close/>
                </a:path>
              </a:pathLst>
            </a:custGeom>
            <a:solidFill>
              <a:srgbClr val="B0BEC5"/>
            </a:solid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3493" y="489518"/>
            <a:ext cx="16654853" cy="1549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 spc="39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End-to-end: from patient click</a:t>
            </a:r>
          </a:p>
          <a:p>
            <a:pPr algn="l">
              <a:lnSpc>
                <a:spcPts val="5764"/>
              </a:lnSpc>
            </a:pPr>
            <a:r>
              <a:rPr lang="en-US" sz="4803" b="1" spc="39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to clinical summary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23493" y="2326815"/>
            <a:ext cx="3934863" cy="3421704"/>
            <a:chOff x="0" y="0"/>
            <a:chExt cx="5246484" cy="45622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46497" cy="4562348"/>
            </a:xfrm>
            <a:custGeom>
              <a:avLst/>
              <a:gdLst/>
              <a:ahLst/>
              <a:cxnLst/>
              <a:rect l="l" t="t" r="r" b="b"/>
              <a:pathLst>
                <a:path w="5246497" h="4562348">
                  <a:moveTo>
                    <a:pt x="0" y="144145"/>
                  </a:moveTo>
                  <a:cubicBezTo>
                    <a:pt x="0" y="64516"/>
                    <a:pt x="64516" y="0"/>
                    <a:pt x="144145" y="0"/>
                  </a:cubicBezTo>
                  <a:lnTo>
                    <a:pt x="5102352" y="0"/>
                  </a:lnTo>
                  <a:cubicBezTo>
                    <a:pt x="5181981" y="0"/>
                    <a:pt x="5246497" y="64516"/>
                    <a:pt x="5246497" y="144145"/>
                  </a:cubicBezTo>
                  <a:lnTo>
                    <a:pt x="5246497" y="4418203"/>
                  </a:lnTo>
                  <a:cubicBezTo>
                    <a:pt x="5246497" y="4497832"/>
                    <a:pt x="5181981" y="4562348"/>
                    <a:pt x="5102352" y="4562348"/>
                  </a:cubicBezTo>
                  <a:lnTo>
                    <a:pt x="144145" y="4562348"/>
                  </a:lnTo>
                  <a:cubicBezTo>
                    <a:pt x="64516" y="4562221"/>
                    <a:pt x="0" y="4497705"/>
                    <a:pt x="0" y="4418203"/>
                  </a:cubicBezTo>
                  <a:close/>
                </a:path>
              </a:pathLst>
            </a:custGeom>
            <a:solidFill>
              <a:srgbClr val="DBE4F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128522" y="2631853"/>
            <a:ext cx="1176033" cy="2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2026" b="1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01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23493" y="2992145"/>
            <a:ext cx="3934863" cy="28594"/>
            <a:chOff x="0" y="0"/>
            <a:chExt cx="5246484" cy="381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46497" cy="38100"/>
            </a:xfrm>
            <a:custGeom>
              <a:avLst/>
              <a:gdLst/>
              <a:ahLst/>
              <a:cxnLst/>
              <a:rect l="l" t="t" r="r" b="b"/>
              <a:pathLst>
                <a:path w="5246497" h="38100">
                  <a:moveTo>
                    <a:pt x="0" y="0"/>
                  </a:moveTo>
                  <a:lnTo>
                    <a:pt x="5246497" y="0"/>
                  </a:lnTo>
                  <a:lnTo>
                    <a:pt x="524649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28522" y="3136487"/>
            <a:ext cx="3324806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Select patient 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8522" y="3651294"/>
            <a:ext cx="3629835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Doctor selects a patient profile.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215909" y="2326815"/>
            <a:ext cx="3706244" cy="3421704"/>
            <a:chOff x="0" y="0"/>
            <a:chExt cx="4941659" cy="45622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41697" cy="4562348"/>
            </a:xfrm>
            <a:custGeom>
              <a:avLst/>
              <a:gdLst/>
              <a:ahLst/>
              <a:cxnLst/>
              <a:rect l="l" t="t" r="r" b="b"/>
              <a:pathLst>
                <a:path w="4941697" h="4562348">
                  <a:moveTo>
                    <a:pt x="0" y="144145"/>
                  </a:moveTo>
                  <a:cubicBezTo>
                    <a:pt x="0" y="64516"/>
                    <a:pt x="64516" y="0"/>
                    <a:pt x="144145" y="0"/>
                  </a:cubicBezTo>
                  <a:lnTo>
                    <a:pt x="4797552" y="0"/>
                  </a:lnTo>
                  <a:cubicBezTo>
                    <a:pt x="4877181" y="0"/>
                    <a:pt x="4941697" y="64516"/>
                    <a:pt x="4941697" y="144145"/>
                  </a:cubicBezTo>
                  <a:lnTo>
                    <a:pt x="4941697" y="4418203"/>
                  </a:lnTo>
                  <a:cubicBezTo>
                    <a:pt x="4941697" y="4497832"/>
                    <a:pt x="4877181" y="4562348"/>
                    <a:pt x="4797552" y="4562348"/>
                  </a:cubicBezTo>
                  <a:lnTo>
                    <a:pt x="144145" y="4562348"/>
                  </a:lnTo>
                  <a:cubicBezTo>
                    <a:pt x="64516" y="4562221"/>
                    <a:pt x="0" y="4497705"/>
                    <a:pt x="0" y="4418203"/>
                  </a:cubicBezTo>
                  <a:close/>
                </a:path>
              </a:pathLst>
            </a:custGeom>
            <a:solidFill>
              <a:srgbClr val="DBE4F0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5520938" y="2631853"/>
            <a:ext cx="1176033" cy="2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2026" b="1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02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215909" y="2992145"/>
            <a:ext cx="3706092" cy="28594"/>
            <a:chOff x="0" y="0"/>
            <a:chExt cx="4941456" cy="381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41443" cy="38100"/>
            </a:xfrm>
            <a:custGeom>
              <a:avLst/>
              <a:gdLst/>
              <a:ahLst/>
              <a:cxnLst/>
              <a:rect l="l" t="t" r="r" b="b"/>
              <a:pathLst>
                <a:path w="4941443" h="38100">
                  <a:moveTo>
                    <a:pt x="0" y="0"/>
                  </a:moveTo>
                  <a:lnTo>
                    <a:pt x="4941443" y="0"/>
                  </a:lnTo>
                  <a:lnTo>
                    <a:pt x="494144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5520938" y="3136487"/>
            <a:ext cx="3096177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Start synthesis →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20938" y="3651294"/>
            <a:ext cx="3401216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Clicks “Synthesize &amp; Analyze”.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79696" y="2326815"/>
            <a:ext cx="3706092" cy="3421704"/>
            <a:chOff x="0" y="0"/>
            <a:chExt cx="4941456" cy="45622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41443" cy="4562348"/>
            </a:xfrm>
            <a:custGeom>
              <a:avLst/>
              <a:gdLst/>
              <a:ahLst/>
              <a:cxnLst/>
              <a:rect l="l" t="t" r="r" b="b"/>
              <a:pathLst>
                <a:path w="4941443" h="4562348">
                  <a:moveTo>
                    <a:pt x="0" y="144145"/>
                  </a:moveTo>
                  <a:cubicBezTo>
                    <a:pt x="0" y="64516"/>
                    <a:pt x="64516" y="0"/>
                    <a:pt x="144145" y="0"/>
                  </a:cubicBezTo>
                  <a:lnTo>
                    <a:pt x="4797298" y="0"/>
                  </a:lnTo>
                  <a:cubicBezTo>
                    <a:pt x="4876927" y="0"/>
                    <a:pt x="4941443" y="64516"/>
                    <a:pt x="4941443" y="144145"/>
                  </a:cubicBezTo>
                  <a:lnTo>
                    <a:pt x="4941443" y="4418203"/>
                  </a:lnTo>
                  <a:cubicBezTo>
                    <a:pt x="4941443" y="4497832"/>
                    <a:pt x="4876927" y="4562348"/>
                    <a:pt x="4797298" y="4562348"/>
                  </a:cubicBezTo>
                  <a:lnTo>
                    <a:pt x="144145" y="4562348"/>
                  </a:lnTo>
                  <a:cubicBezTo>
                    <a:pt x="64516" y="4562221"/>
                    <a:pt x="0" y="4497705"/>
                    <a:pt x="0" y="4418203"/>
                  </a:cubicBezTo>
                  <a:close/>
                </a:path>
              </a:pathLst>
            </a:custGeom>
            <a:solidFill>
              <a:srgbClr val="DBE4F0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684725" y="2631853"/>
            <a:ext cx="1176033" cy="2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2026" b="1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03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379696" y="2992145"/>
            <a:ext cx="3706092" cy="28594"/>
            <a:chOff x="0" y="0"/>
            <a:chExt cx="4941456" cy="381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41443" cy="38100"/>
            </a:xfrm>
            <a:custGeom>
              <a:avLst/>
              <a:gdLst/>
              <a:ahLst/>
              <a:cxnLst/>
              <a:rect l="l" t="t" r="r" b="b"/>
              <a:pathLst>
                <a:path w="4941443" h="38100">
                  <a:moveTo>
                    <a:pt x="0" y="0"/>
                  </a:moveTo>
                  <a:lnTo>
                    <a:pt x="4941443" y="0"/>
                  </a:lnTo>
                  <a:lnTo>
                    <a:pt x="494144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9684725" y="3136487"/>
            <a:ext cx="3096035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Show loading →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84725" y="3651294"/>
            <a:ext cx="3096035" cy="86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React shows loading indicators via useState.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543331" y="2326815"/>
            <a:ext cx="3935016" cy="3421704"/>
            <a:chOff x="0" y="0"/>
            <a:chExt cx="5246688" cy="45622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46751" cy="4562348"/>
            </a:xfrm>
            <a:custGeom>
              <a:avLst/>
              <a:gdLst/>
              <a:ahLst/>
              <a:cxnLst/>
              <a:rect l="l" t="t" r="r" b="b"/>
              <a:pathLst>
                <a:path w="5246751" h="4562348">
                  <a:moveTo>
                    <a:pt x="0" y="144145"/>
                  </a:moveTo>
                  <a:cubicBezTo>
                    <a:pt x="0" y="64516"/>
                    <a:pt x="64516" y="0"/>
                    <a:pt x="144145" y="0"/>
                  </a:cubicBezTo>
                  <a:lnTo>
                    <a:pt x="5102606" y="0"/>
                  </a:lnTo>
                  <a:cubicBezTo>
                    <a:pt x="5182235" y="0"/>
                    <a:pt x="5246751" y="64516"/>
                    <a:pt x="5246751" y="144145"/>
                  </a:cubicBezTo>
                  <a:lnTo>
                    <a:pt x="5246751" y="4418203"/>
                  </a:lnTo>
                  <a:cubicBezTo>
                    <a:pt x="5246751" y="4497832"/>
                    <a:pt x="5182235" y="4562348"/>
                    <a:pt x="5102606" y="4562348"/>
                  </a:cubicBezTo>
                  <a:lnTo>
                    <a:pt x="144145" y="4562348"/>
                  </a:lnTo>
                  <a:cubicBezTo>
                    <a:pt x="64516" y="4562221"/>
                    <a:pt x="0" y="4497705"/>
                    <a:pt x="0" y="4418203"/>
                  </a:cubicBezTo>
                  <a:close/>
                </a:path>
              </a:pathLst>
            </a:custGeom>
            <a:solidFill>
              <a:srgbClr val="DBE4F0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3848359" y="2631853"/>
            <a:ext cx="1176033" cy="2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2026" b="1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04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543331" y="2992145"/>
            <a:ext cx="3934863" cy="28594"/>
            <a:chOff x="0" y="0"/>
            <a:chExt cx="5246484" cy="381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246497" cy="38100"/>
            </a:xfrm>
            <a:custGeom>
              <a:avLst/>
              <a:gdLst/>
              <a:ahLst/>
              <a:cxnLst/>
              <a:rect l="l" t="t" r="r" b="b"/>
              <a:pathLst>
                <a:path w="5246497" h="38100">
                  <a:moveTo>
                    <a:pt x="0" y="0"/>
                  </a:moveTo>
                  <a:lnTo>
                    <a:pt x="5246497" y="0"/>
                  </a:lnTo>
                  <a:lnTo>
                    <a:pt x="524649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3848359" y="3136487"/>
            <a:ext cx="3324949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Send request ↓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48359" y="3651294"/>
            <a:ext cx="3324949" cy="86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162436"/>
                </a:solidFill>
                <a:latin typeface="Carlito"/>
                <a:ea typeface="Carlito"/>
                <a:cs typeface="Carlito"/>
                <a:sym typeface="Carlito"/>
              </a:rPr>
              <a:t>Axios sends an async request to FastAPI.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09196" y="6191774"/>
            <a:ext cx="3963467" cy="3450298"/>
            <a:chOff x="0" y="0"/>
            <a:chExt cx="5284622" cy="460039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284597" cy="4600321"/>
            </a:xfrm>
            <a:custGeom>
              <a:avLst/>
              <a:gdLst/>
              <a:ahLst/>
              <a:cxnLst/>
              <a:rect l="l" t="t" r="r" b="b"/>
              <a:pathLst>
                <a:path w="5284597" h="4600321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5139309" y="0"/>
                  </a:lnTo>
                  <a:cubicBezTo>
                    <a:pt x="5219573" y="0"/>
                    <a:pt x="5284597" y="65024"/>
                    <a:pt x="5284597" y="145288"/>
                  </a:cubicBezTo>
                  <a:lnTo>
                    <a:pt x="5284597" y="4455033"/>
                  </a:lnTo>
                  <a:cubicBezTo>
                    <a:pt x="5284597" y="4535297"/>
                    <a:pt x="5219573" y="4600321"/>
                    <a:pt x="5139309" y="4600321"/>
                  </a:cubicBezTo>
                  <a:lnTo>
                    <a:pt x="145288" y="4600321"/>
                  </a:lnTo>
                  <a:cubicBezTo>
                    <a:pt x="65024" y="4600448"/>
                    <a:pt x="0" y="4535297"/>
                    <a:pt x="0" y="445503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691" r="-61692" b="-1"/>
              </a:stretch>
            </a:blipFill>
            <a:ln w="28597" cap="sq">
              <a:solidFill>
                <a:srgbClr val="C1CAD6"/>
              </a:solidFill>
              <a:prstDash val="solid"/>
              <a:miter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157116" y="6539703"/>
            <a:ext cx="1176033" cy="2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2026" b="1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05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852087" y="6900005"/>
            <a:ext cx="3877675" cy="28594"/>
            <a:chOff x="0" y="0"/>
            <a:chExt cx="5170234" cy="3812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170170" cy="38100"/>
            </a:xfrm>
            <a:custGeom>
              <a:avLst/>
              <a:gdLst/>
              <a:ahLst/>
              <a:cxnLst/>
              <a:rect l="l" t="t" r="r" b="b"/>
              <a:pathLst>
                <a:path w="5170170" h="38100">
                  <a:moveTo>
                    <a:pt x="0" y="0"/>
                  </a:moveTo>
                  <a:lnTo>
                    <a:pt x="5170170" y="0"/>
                  </a:lnTo>
                  <a:lnTo>
                    <a:pt x="517017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157116" y="7044347"/>
            <a:ext cx="3267608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Query history →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57116" y="7559154"/>
            <a:ext cx="3267608" cy="86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FastAPI queries patient history and encounters.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201603" y="6191774"/>
            <a:ext cx="3734838" cy="3450298"/>
            <a:chOff x="0" y="0"/>
            <a:chExt cx="4979784" cy="460039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979797" cy="4600321"/>
            </a:xfrm>
            <a:custGeom>
              <a:avLst/>
              <a:gdLst/>
              <a:ahLst/>
              <a:cxnLst/>
              <a:rect l="l" t="t" r="r" b="b"/>
              <a:pathLst>
                <a:path w="4979797" h="4600321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4834509" y="0"/>
                  </a:lnTo>
                  <a:cubicBezTo>
                    <a:pt x="4914773" y="0"/>
                    <a:pt x="4979797" y="65024"/>
                    <a:pt x="4979797" y="145288"/>
                  </a:cubicBezTo>
                  <a:lnTo>
                    <a:pt x="4979797" y="4455033"/>
                  </a:lnTo>
                  <a:cubicBezTo>
                    <a:pt x="4979797" y="4535297"/>
                    <a:pt x="4914773" y="4600321"/>
                    <a:pt x="4834509" y="4600321"/>
                  </a:cubicBezTo>
                  <a:lnTo>
                    <a:pt x="145288" y="4600321"/>
                  </a:lnTo>
                  <a:cubicBezTo>
                    <a:pt x="65024" y="4600448"/>
                    <a:pt x="0" y="4535297"/>
                    <a:pt x="0" y="445503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528" r="-68528" b="-1"/>
              </a:stretch>
            </a:blipFill>
            <a:ln w="28597" cap="sq">
              <a:solidFill>
                <a:srgbClr val="C1CAD6"/>
              </a:solidFill>
              <a:prstDash val="solid"/>
              <a:miter/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5549532" y="6539703"/>
            <a:ext cx="1176033" cy="2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2026" b="1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06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5244503" y="6900005"/>
            <a:ext cx="3648904" cy="28594"/>
            <a:chOff x="0" y="0"/>
            <a:chExt cx="4865205" cy="3812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65243" cy="38100"/>
            </a:xfrm>
            <a:custGeom>
              <a:avLst/>
              <a:gdLst/>
              <a:ahLst/>
              <a:cxnLst/>
              <a:rect l="l" t="t" r="r" b="b"/>
              <a:pathLst>
                <a:path w="4865243" h="38100">
                  <a:moveTo>
                    <a:pt x="0" y="0"/>
                  </a:moveTo>
                  <a:lnTo>
                    <a:pt x="4865243" y="0"/>
                  </a:lnTo>
                  <a:lnTo>
                    <a:pt x="486524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5549532" y="7044347"/>
            <a:ext cx="3038989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Ground generation →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49532" y="7559154"/>
            <a:ext cx="3038989" cy="163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LangGraph/RAG extracts context, queries FAISS for guidelines, and prompts the LLM.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9365399" y="6191774"/>
            <a:ext cx="3734686" cy="3450298"/>
            <a:chOff x="0" y="0"/>
            <a:chExt cx="4979581" cy="460039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979543" cy="4600321"/>
            </a:xfrm>
            <a:custGeom>
              <a:avLst/>
              <a:gdLst/>
              <a:ahLst/>
              <a:cxnLst/>
              <a:rect l="l" t="t" r="r" b="b"/>
              <a:pathLst>
                <a:path w="4979543" h="4600321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4834255" y="0"/>
                  </a:lnTo>
                  <a:cubicBezTo>
                    <a:pt x="4914519" y="0"/>
                    <a:pt x="4979543" y="65024"/>
                    <a:pt x="4979543" y="145288"/>
                  </a:cubicBezTo>
                  <a:lnTo>
                    <a:pt x="4979543" y="4455033"/>
                  </a:lnTo>
                  <a:cubicBezTo>
                    <a:pt x="4979543" y="4535297"/>
                    <a:pt x="4914519" y="4600321"/>
                    <a:pt x="4834255" y="4600321"/>
                  </a:cubicBezTo>
                  <a:lnTo>
                    <a:pt x="145288" y="4600321"/>
                  </a:lnTo>
                  <a:cubicBezTo>
                    <a:pt x="65024" y="4600448"/>
                    <a:pt x="0" y="4535297"/>
                    <a:pt x="0" y="445503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534" r="-68534" b="-1"/>
              </a:stretch>
            </a:blipFill>
            <a:ln w="28597" cap="sq">
              <a:solidFill>
                <a:srgbClr val="C1CAD6"/>
              </a:solidFill>
              <a:prstDash val="solid"/>
              <a:miter/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9713319" y="6539703"/>
            <a:ext cx="1176033" cy="2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2026" b="1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07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9408290" y="6900005"/>
            <a:ext cx="3648904" cy="28594"/>
            <a:chOff x="0" y="0"/>
            <a:chExt cx="4865205" cy="3812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865243" cy="38100"/>
            </a:xfrm>
            <a:custGeom>
              <a:avLst/>
              <a:gdLst/>
              <a:ahLst/>
              <a:cxnLst/>
              <a:rect l="l" t="t" r="r" b="b"/>
              <a:pathLst>
                <a:path w="4865243" h="38100">
                  <a:moveTo>
                    <a:pt x="0" y="0"/>
                  </a:moveTo>
                  <a:lnTo>
                    <a:pt x="4865243" y="0"/>
                  </a:lnTo>
                  <a:lnTo>
                    <a:pt x="486524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50" name="TextBox 50"/>
          <p:cNvSpPr txBox="1"/>
          <p:nvPr/>
        </p:nvSpPr>
        <p:spPr>
          <a:xfrm>
            <a:off x="9713319" y="7044347"/>
            <a:ext cx="3038837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Return insights →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713319" y="7559154"/>
            <a:ext cx="3038837" cy="125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Risk insights are structured as JSON, stored, and returned.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3529034" y="6191774"/>
            <a:ext cx="3963610" cy="3450298"/>
            <a:chOff x="0" y="0"/>
            <a:chExt cx="5284813" cy="460039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284724" cy="4600321"/>
            </a:xfrm>
            <a:custGeom>
              <a:avLst/>
              <a:gdLst/>
              <a:ahLst/>
              <a:cxnLst/>
              <a:rect l="l" t="t" r="r" b="b"/>
              <a:pathLst>
                <a:path w="5284724" h="4600321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5139436" y="0"/>
                  </a:lnTo>
                  <a:cubicBezTo>
                    <a:pt x="5219700" y="0"/>
                    <a:pt x="5284724" y="65024"/>
                    <a:pt x="5284724" y="145288"/>
                  </a:cubicBezTo>
                  <a:lnTo>
                    <a:pt x="5284724" y="4455033"/>
                  </a:lnTo>
                  <a:cubicBezTo>
                    <a:pt x="5284724" y="4535297"/>
                    <a:pt x="5219700" y="4600321"/>
                    <a:pt x="5139436" y="4600321"/>
                  </a:cubicBezTo>
                  <a:lnTo>
                    <a:pt x="145288" y="4600321"/>
                  </a:lnTo>
                  <a:cubicBezTo>
                    <a:pt x="65024" y="4600448"/>
                    <a:pt x="0" y="4535297"/>
                    <a:pt x="0" y="445503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688" r="-61690" b="-1"/>
              </a:stretch>
            </a:blipFill>
            <a:ln w="28597" cap="sq">
              <a:solidFill>
                <a:srgbClr val="C1CAD6"/>
              </a:solidFill>
              <a:prstDash val="solid"/>
              <a:miter/>
            </a:ln>
          </p:spPr>
        </p:sp>
      </p:grpSp>
      <p:sp>
        <p:nvSpPr>
          <p:cNvPr id="54" name="TextBox 54"/>
          <p:cNvSpPr txBox="1"/>
          <p:nvPr/>
        </p:nvSpPr>
        <p:spPr>
          <a:xfrm>
            <a:off x="13876963" y="6539703"/>
            <a:ext cx="1176033" cy="2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2026" b="1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08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3571925" y="6900005"/>
            <a:ext cx="3877675" cy="28594"/>
            <a:chOff x="0" y="0"/>
            <a:chExt cx="5170234" cy="3812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170170" cy="38100"/>
            </a:xfrm>
            <a:custGeom>
              <a:avLst/>
              <a:gdLst/>
              <a:ahLst/>
              <a:cxnLst/>
              <a:rect l="l" t="t" r="r" b="b"/>
              <a:pathLst>
                <a:path w="5170170" h="38100">
                  <a:moveTo>
                    <a:pt x="0" y="0"/>
                  </a:moveTo>
                  <a:lnTo>
                    <a:pt x="5170170" y="0"/>
                  </a:lnTo>
                  <a:lnTo>
                    <a:pt x="517017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57" name="TextBox 57"/>
          <p:cNvSpPr txBox="1"/>
          <p:nvPr/>
        </p:nvSpPr>
        <p:spPr>
          <a:xfrm>
            <a:off x="13876963" y="7044347"/>
            <a:ext cx="3267761" cy="4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Render results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876963" y="7559154"/>
            <a:ext cx="3267761" cy="125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>
                <a:solidFill>
                  <a:srgbClr val="546E7A"/>
                </a:solidFill>
                <a:latin typeface="Carlito"/>
                <a:ea typeface="Carlito"/>
                <a:cs typeface="Carlito"/>
                <a:sym typeface="Carlito"/>
              </a:rPr>
              <a:t>React renders summary, risk flags, pre-visit briefs, and Plotly charts.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0" y="0"/>
            <a:ext cx="18301840" cy="152524"/>
            <a:chOff x="0" y="0"/>
            <a:chExt cx="24402453" cy="20336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4402414" cy="203327"/>
            </a:xfrm>
            <a:custGeom>
              <a:avLst/>
              <a:gdLst/>
              <a:ahLst/>
              <a:cxnLst/>
              <a:rect l="l" t="t" r="r" b="b"/>
              <a:pathLst>
                <a:path w="24402414" h="203327">
                  <a:moveTo>
                    <a:pt x="0" y="0"/>
                  </a:moveTo>
                  <a:lnTo>
                    <a:pt x="24402414" y="0"/>
                  </a:lnTo>
                  <a:lnTo>
                    <a:pt x="24402414" y="203327"/>
                  </a:lnTo>
                  <a:lnTo>
                    <a:pt x="0" y="203327"/>
                  </a:lnTo>
                  <a:close/>
                </a:path>
              </a:pathLst>
            </a:custGeom>
            <a:solidFill>
              <a:srgbClr val="B0BEC5"/>
            </a:solid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3493" y="489518"/>
            <a:ext cx="16654853" cy="817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 spc="39">
                <a:solidFill>
                  <a:srgbClr val="162436"/>
                </a:solidFill>
                <a:latin typeface="Carlito Bold"/>
                <a:ea typeface="Carlito Bold"/>
                <a:cs typeface="Carlito Bold"/>
                <a:sym typeface="Carlito Bold"/>
              </a:rPr>
              <a:t>Impact, limitations and future scope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23493" y="1594752"/>
            <a:ext cx="5246589" cy="8033023"/>
            <a:chOff x="0" y="0"/>
            <a:chExt cx="6995452" cy="107106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95540" cy="10710799"/>
            </a:xfrm>
            <a:custGeom>
              <a:avLst/>
              <a:gdLst/>
              <a:ahLst/>
              <a:cxnLst/>
              <a:rect l="l" t="t" r="r" b="b"/>
              <a:pathLst>
                <a:path w="6995540" h="10710799">
                  <a:moveTo>
                    <a:pt x="0" y="144145"/>
                  </a:moveTo>
                  <a:cubicBezTo>
                    <a:pt x="0" y="64516"/>
                    <a:pt x="64516" y="0"/>
                    <a:pt x="144145" y="0"/>
                  </a:cubicBezTo>
                  <a:lnTo>
                    <a:pt x="6851396" y="0"/>
                  </a:lnTo>
                  <a:cubicBezTo>
                    <a:pt x="6931025" y="0"/>
                    <a:pt x="6995540" y="64516"/>
                    <a:pt x="6995540" y="144145"/>
                  </a:cubicBezTo>
                  <a:lnTo>
                    <a:pt x="6995540" y="10566654"/>
                  </a:lnTo>
                  <a:cubicBezTo>
                    <a:pt x="6995540" y="10646283"/>
                    <a:pt x="6931025" y="10710799"/>
                    <a:pt x="6851396" y="10710799"/>
                  </a:cubicBezTo>
                  <a:lnTo>
                    <a:pt x="144145" y="10710799"/>
                  </a:lnTo>
                  <a:cubicBezTo>
                    <a:pt x="64516" y="10710672"/>
                    <a:pt x="0" y="10646156"/>
                    <a:pt x="0" y="10566654"/>
                  </a:cubicBezTo>
                  <a:close/>
                </a:path>
              </a:pathLst>
            </a:custGeom>
            <a:solidFill>
              <a:srgbClr val="DBE4F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823493" y="1594752"/>
            <a:ext cx="5246589" cy="57198"/>
            <a:chOff x="0" y="0"/>
            <a:chExt cx="6995452" cy="762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95414" cy="76200"/>
            </a:xfrm>
            <a:custGeom>
              <a:avLst/>
              <a:gdLst/>
              <a:ahLst/>
              <a:cxnLst/>
              <a:rect l="l" t="t" r="r" b="b"/>
              <a:pathLst>
                <a:path w="6995414" h="76200">
                  <a:moveTo>
                    <a:pt x="0" y="0"/>
                  </a:moveTo>
                  <a:lnTo>
                    <a:pt x="6995414" y="0"/>
                  </a:lnTo>
                  <a:lnTo>
                    <a:pt x="699541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204779" y="1983724"/>
            <a:ext cx="4484008" cy="569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Impact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4779" y="2553472"/>
            <a:ext cx="4484008" cy="370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124" lvl="1" indent="-253562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455A64"/>
                </a:solidFill>
                <a:latin typeface="Carlito"/>
                <a:ea typeface="Carlito"/>
                <a:cs typeface="Carlito"/>
                <a:sym typeface="Carlito"/>
              </a:rPr>
              <a:t>Less manual chart review</a:t>
            </a:r>
          </a:p>
          <a:p>
            <a:pPr marL="507124" lvl="1" indent="-253562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455A64"/>
                </a:solidFill>
                <a:latin typeface="Carlito"/>
                <a:ea typeface="Carlito"/>
                <a:cs typeface="Carlito"/>
                <a:sym typeface="Carlito"/>
              </a:rPr>
              <a:t>Structured pre-visit briefs</a:t>
            </a:r>
          </a:p>
          <a:p>
            <a:pPr marL="507124" lvl="1" indent="-253562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455A64"/>
                </a:solidFill>
                <a:latin typeface="Carlito"/>
                <a:ea typeface="Carlito"/>
                <a:cs typeface="Carlito"/>
                <a:sym typeface="Carlito"/>
              </a:rPr>
              <a:t>Guideline-grounded risk and medication-conflict flags</a:t>
            </a:r>
          </a:p>
          <a:p>
            <a:pPr marL="507124" lvl="1" indent="-253562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455A64"/>
                </a:solidFill>
                <a:latin typeface="Carlito"/>
                <a:ea typeface="Carlito"/>
                <a:cs typeface="Carlito"/>
                <a:sym typeface="Carlito"/>
              </a:rPr>
              <a:t>Department-level insights for administrators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527625" y="1594752"/>
            <a:ext cx="5246589" cy="57198"/>
            <a:chOff x="0" y="0"/>
            <a:chExt cx="6995452" cy="76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95414" cy="76200"/>
            </a:xfrm>
            <a:custGeom>
              <a:avLst/>
              <a:gdLst/>
              <a:ahLst/>
              <a:cxnLst/>
              <a:rect l="l" t="t" r="r" b="b"/>
              <a:pathLst>
                <a:path w="6995414" h="76200">
                  <a:moveTo>
                    <a:pt x="0" y="0"/>
                  </a:moveTo>
                  <a:lnTo>
                    <a:pt x="6995414" y="0"/>
                  </a:lnTo>
                  <a:lnTo>
                    <a:pt x="699541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6908911" y="1983724"/>
            <a:ext cx="4484008" cy="569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Limitations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08911" y="2553472"/>
            <a:ext cx="4484008" cy="2653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124" lvl="1" indent="-253562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455A64"/>
                </a:solidFill>
                <a:latin typeface="Carlito"/>
                <a:ea typeface="Carlito"/>
                <a:cs typeface="Carlito"/>
                <a:sym typeface="Carlito"/>
              </a:rPr>
              <a:t>Mandatory clinician review</a:t>
            </a:r>
          </a:p>
          <a:p>
            <a:pPr marL="507124" lvl="1" indent="-253562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455A64"/>
                </a:solidFill>
                <a:latin typeface="Carlito"/>
                <a:ea typeface="Carlito"/>
                <a:cs typeface="Carlito"/>
                <a:sym typeface="Carlito"/>
              </a:rPr>
              <a:t>RAG reduces but does not eliminate hallucinations</a:t>
            </a:r>
          </a:p>
          <a:p>
            <a:pPr marL="507124" lvl="1" indent="-253562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455A64"/>
                </a:solidFill>
                <a:latin typeface="Carlito"/>
                <a:ea typeface="Carlito"/>
                <a:cs typeface="Carlito"/>
                <a:sym typeface="Carlito"/>
              </a:rPr>
              <a:t>Output depends on EHR data quality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231757" y="1594752"/>
            <a:ext cx="5246589" cy="8033023"/>
            <a:chOff x="0" y="0"/>
            <a:chExt cx="6995452" cy="107106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95540" cy="10710799"/>
            </a:xfrm>
            <a:custGeom>
              <a:avLst/>
              <a:gdLst/>
              <a:ahLst/>
              <a:cxnLst/>
              <a:rect l="l" t="t" r="r" b="b"/>
              <a:pathLst>
                <a:path w="6995540" h="10710799">
                  <a:moveTo>
                    <a:pt x="0" y="144145"/>
                  </a:moveTo>
                  <a:cubicBezTo>
                    <a:pt x="0" y="64516"/>
                    <a:pt x="64516" y="0"/>
                    <a:pt x="144145" y="0"/>
                  </a:cubicBezTo>
                  <a:lnTo>
                    <a:pt x="6851396" y="0"/>
                  </a:lnTo>
                  <a:cubicBezTo>
                    <a:pt x="6931025" y="0"/>
                    <a:pt x="6995540" y="64516"/>
                    <a:pt x="6995540" y="144145"/>
                  </a:cubicBezTo>
                  <a:lnTo>
                    <a:pt x="6995540" y="10566654"/>
                  </a:lnTo>
                  <a:cubicBezTo>
                    <a:pt x="6995540" y="10646283"/>
                    <a:pt x="6931025" y="10710799"/>
                    <a:pt x="6851396" y="10710799"/>
                  </a:cubicBezTo>
                  <a:lnTo>
                    <a:pt x="144145" y="10710799"/>
                  </a:lnTo>
                  <a:cubicBezTo>
                    <a:pt x="64516" y="10710672"/>
                    <a:pt x="0" y="10646156"/>
                    <a:pt x="0" y="10566654"/>
                  </a:cubicBezTo>
                  <a:close/>
                </a:path>
              </a:pathLst>
            </a:custGeom>
            <a:solidFill>
              <a:srgbClr val="DBE4F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231757" y="1594752"/>
            <a:ext cx="5246589" cy="57198"/>
            <a:chOff x="0" y="0"/>
            <a:chExt cx="6995452" cy="762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95414" cy="76200"/>
            </a:xfrm>
            <a:custGeom>
              <a:avLst/>
              <a:gdLst/>
              <a:ahLst/>
              <a:cxnLst/>
              <a:rect l="l" t="t" r="r" b="b"/>
              <a:pathLst>
                <a:path w="6995414" h="76200">
                  <a:moveTo>
                    <a:pt x="0" y="0"/>
                  </a:moveTo>
                  <a:lnTo>
                    <a:pt x="6995414" y="0"/>
                  </a:lnTo>
                  <a:lnTo>
                    <a:pt x="699541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62436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613053" y="1983724"/>
            <a:ext cx="4484008" cy="569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695C"/>
                </a:solidFill>
                <a:latin typeface="Carlito"/>
                <a:ea typeface="Carlito"/>
                <a:cs typeface="Carlito"/>
                <a:sym typeface="Carlito"/>
              </a:rPr>
              <a:t>Future scope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13053" y="2553472"/>
            <a:ext cx="4484008" cy="373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124" lvl="1" indent="-253562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455A64"/>
                </a:solidFill>
                <a:latin typeface="Carlito"/>
                <a:ea typeface="Carlito"/>
                <a:cs typeface="Carlito"/>
                <a:sym typeface="Carlito"/>
              </a:rPr>
              <a:t>Larger multi-specialty datasets and FHIR</a:t>
            </a:r>
          </a:p>
          <a:p>
            <a:pPr marL="507124" lvl="1" indent="-253562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455A64"/>
                </a:solidFill>
                <a:latin typeface="Carlito"/>
                <a:ea typeface="Carlito"/>
                <a:cs typeface="Carlito"/>
                <a:sym typeface="Carlito"/>
              </a:rPr>
              <a:t>Advanced longitudinal trends and lab normalization</a:t>
            </a:r>
          </a:p>
          <a:p>
            <a:pPr marL="507124" lvl="1" indent="-253562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455A64"/>
                </a:solidFill>
                <a:latin typeface="Carlito"/>
                <a:ea typeface="Carlito"/>
                <a:cs typeface="Carlito"/>
                <a:sym typeface="Carlito"/>
              </a:rPr>
              <a:t>Role-based authentication, stronger security</a:t>
            </a:r>
            <a:r>
              <a:rPr lang="en-US" sz="2799" dirty="0">
                <a:solidFill>
                  <a:srgbClr val="455A64"/>
                </a:solidFill>
                <a:latin typeface="Carlito"/>
                <a:ea typeface="Carlito"/>
                <a:cs typeface="Carlito"/>
                <a:sym typeface="Carlito"/>
              </a:rPr>
              <a:t>.</a:t>
            </a:r>
            <a:endParaRPr lang="en-US" sz="2799" u="none" strike="noStrike" dirty="0">
              <a:solidFill>
                <a:srgbClr val="455A64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0" y="0"/>
            <a:ext cx="18301840" cy="152524"/>
            <a:chOff x="0" y="0"/>
            <a:chExt cx="24402453" cy="2033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402414" cy="203327"/>
            </a:xfrm>
            <a:custGeom>
              <a:avLst/>
              <a:gdLst/>
              <a:ahLst/>
              <a:cxnLst/>
              <a:rect l="l" t="t" r="r" b="b"/>
              <a:pathLst>
                <a:path w="24402414" h="203327">
                  <a:moveTo>
                    <a:pt x="0" y="0"/>
                  </a:moveTo>
                  <a:lnTo>
                    <a:pt x="24402414" y="0"/>
                  </a:lnTo>
                  <a:lnTo>
                    <a:pt x="24402414" y="203327"/>
                  </a:lnTo>
                  <a:lnTo>
                    <a:pt x="0" y="203327"/>
                  </a:lnTo>
                  <a:close/>
                </a:path>
              </a:pathLst>
            </a:custGeom>
            <a:solidFill>
              <a:srgbClr val="B0BEC5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695</Words>
  <Application>Microsoft Office PowerPoint</Application>
  <PresentationFormat>Custom</PresentationFormat>
  <Paragraphs>143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Carlito</vt:lpstr>
      <vt:lpstr>Calibri</vt:lpstr>
      <vt:lpstr>Carlito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AI-Powered-EHR-Summarizer-and-Hospital-Data-Analytics-Platform.pptx</dc:title>
  <cp:lastModifiedBy>Arjun Shetty</cp:lastModifiedBy>
  <cp:revision>3</cp:revision>
  <dcterms:created xsi:type="dcterms:W3CDTF">2006-08-16T00:00:00Z</dcterms:created>
  <dcterms:modified xsi:type="dcterms:W3CDTF">2026-10-07T11:21:47Z</dcterms:modified>
  <dc:identifier>DAHXTwdeG-s</dc:identifier>
</cp:coreProperties>
</file>