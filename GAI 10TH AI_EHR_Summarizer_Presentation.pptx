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  <p:embeddedFont>
      <p:font typeface="Calibri (MS) Italics" charset="1" panose="020F05020202040A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C2A8"/>
            </a:solidFill>
            <a:ln w="2540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834640"/>
            <a:ext cx="16093440" cy="1554480"/>
            <a:chOff x="0" y="0"/>
            <a:chExt cx="21457920" cy="2072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727" r="0" b="-1517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21457920" cy="2234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b="true" sz="80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AI-Powered EHR Summarizer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4297680"/>
            <a:ext cx="16093440" cy="914400"/>
            <a:chOff x="0" y="0"/>
            <a:chExt cx="2145792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145792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Clinical Intelligence &amp; Insight Generation System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5340096"/>
            <a:ext cx="14630400" cy="822960"/>
            <a:chOff x="0" y="0"/>
            <a:chExt cx="1950720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07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i="true">
                  <a:solidFill>
                    <a:srgbClr val="00695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RAG-Grounded Longitudinal EHR Summarization with Risk-Aware, Guideline-Grounded Pre-Visit Briefs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6665595"/>
            <a:ext cx="5048250" cy="1756410"/>
            <a:chOff x="0" y="0"/>
            <a:chExt cx="6731000" cy="2341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1000" cy="2341880"/>
            </a:xfrm>
            <a:custGeom>
              <a:avLst/>
              <a:gdLst/>
              <a:ahLst/>
              <a:cxnLst/>
              <a:rect r="r" b="b" t="t" l="l"/>
              <a:pathLst>
                <a:path h="2341880" w="67310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6533769" y="0"/>
                  </a:lnTo>
                  <a:cubicBezTo>
                    <a:pt x="6642735" y="0"/>
                    <a:pt x="6731000" y="88265"/>
                    <a:pt x="6731000" y="197231"/>
                  </a:cubicBezTo>
                  <a:lnTo>
                    <a:pt x="6731000" y="2144649"/>
                  </a:lnTo>
                  <a:cubicBezTo>
                    <a:pt x="6731000" y="2253615"/>
                    <a:pt x="6642735" y="2341880"/>
                    <a:pt x="653376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53896" y="6858000"/>
            <a:ext cx="4590288" cy="512064"/>
            <a:chOff x="0" y="0"/>
            <a:chExt cx="6120384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0384" cy="682752"/>
            </a:xfrm>
            <a:custGeom>
              <a:avLst/>
              <a:gdLst/>
              <a:ahLst/>
              <a:cxnLst/>
              <a:rect r="r" b="b" t="t" l="l"/>
              <a:pathLst>
                <a:path h="682752" w="6120384">
                  <a:moveTo>
                    <a:pt x="0" y="0"/>
                  </a:moveTo>
                  <a:lnTo>
                    <a:pt x="6120384" y="0"/>
                  </a:lnTo>
                  <a:lnTo>
                    <a:pt x="6120384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695C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12038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53896" y="7359015"/>
            <a:ext cx="45902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AI EHR Summarizer &amp; Insights Generator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19875" y="6665595"/>
            <a:ext cx="5048250" cy="1756410"/>
            <a:chOff x="0" y="0"/>
            <a:chExt cx="6731000" cy="2341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31000" cy="2341880"/>
            </a:xfrm>
            <a:custGeom>
              <a:avLst/>
              <a:gdLst/>
              <a:ahLst/>
              <a:cxnLst/>
              <a:rect r="r" b="b" t="t" l="l"/>
              <a:pathLst>
                <a:path h="2341880" w="67310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6533769" y="0"/>
                  </a:lnTo>
                  <a:cubicBezTo>
                    <a:pt x="6642735" y="0"/>
                    <a:pt x="6731000" y="88265"/>
                    <a:pt x="6731000" y="197231"/>
                  </a:cubicBezTo>
                  <a:lnTo>
                    <a:pt x="6731000" y="2144649"/>
                  </a:lnTo>
                  <a:cubicBezTo>
                    <a:pt x="6731000" y="2253615"/>
                    <a:pt x="6642735" y="2341880"/>
                    <a:pt x="653376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48856" y="6858000"/>
            <a:ext cx="4590288" cy="512064"/>
            <a:chOff x="0" y="0"/>
            <a:chExt cx="612038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20384" cy="682752"/>
            </a:xfrm>
            <a:custGeom>
              <a:avLst/>
              <a:gdLst/>
              <a:ahLst/>
              <a:cxnLst/>
              <a:rect r="r" b="b" t="t" l="l"/>
              <a:pathLst>
                <a:path h="682752" w="6120384">
                  <a:moveTo>
                    <a:pt x="0" y="0"/>
                  </a:moveTo>
                  <a:lnTo>
                    <a:pt x="6120384" y="0"/>
                  </a:lnTo>
                  <a:lnTo>
                    <a:pt x="612038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669" r="0" b="-12466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12038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48856" y="7359015"/>
            <a:ext cx="45902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GPT-4o / Med-Gemini + LangGraph RAG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14835" y="6665595"/>
            <a:ext cx="5048250" cy="1756410"/>
            <a:chOff x="0" y="0"/>
            <a:chExt cx="6731000" cy="2341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31000" cy="2341880"/>
            </a:xfrm>
            <a:custGeom>
              <a:avLst/>
              <a:gdLst/>
              <a:ahLst/>
              <a:cxnLst/>
              <a:rect r="r" b="b" t="t" l="l"/>
              <a:pathLst>
                <a:path h="2341880" w="67310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6533769" y="0"/>
                  </a:lnTo>
                  <a:cubicBezTo>
                    <a:pt x="6642735" y="0"/>
                    <a:pt x="6731000" y="88265"/>
                    <a:pt x="6731000" y="197231"/>
                  </a:cubicBezTo>
                  <a:lnTo>
                    <a:pt x="6731000" y="2144649"/>
                  </a:lnTo>
                  <a:cubicBezTo>
                    <a:pt x="6731000" y="2253615"/>
                    <a:pt x="6642735" y="2341880"/>
                    <a:pt x="653376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43816" y="6858000"/>
            <a:ext cx="4590288" cy="512064"/>
            <a:chOff x="0" y="0"/>
            <a:chExt cx="6120384" cy="68275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20384" cy="682752"/>
            </a:xfrm>
            <a:custGeom>
              <a:avLst/>
              <a:gdLst/>
              <a:ahLst/>
              <a:cxnLst/>
              <a:rect r="r" b="b" t="t" l="l"/>
              <a:pathLst>
                <a:path h="682752" w="6120384">
                  <a:moveTo>
                    <a:pt x="0" y="0"/>
                  </a:moveTo>
                  <a:lnTo>
                    <a:pt x="6120384" y="0"/>
                  </a:lnTo>
                  <a:lnTo>
                    <a:pt x="612038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669" r="0" b="-12466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12038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43816" y="7359015"/>
            <a:ext cx="459028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TCET, Mumbai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97280" y="9052560"/>
            <a:ext cx="16093440" cy="640080"/>
            <a:chOff x="0" y="0"/>
            <a:chExt cx="2145792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Aryan Maurya, Arjun Shetty, Krish Vanani, Sarthak Wakade  |  TCET — Dept. of AI &amp; ML  |  Generative AI (GAI)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09206" y="694944"/>
            <a:ext cx="14069597" cy="2103120"/>
            <a:chOff x="0" y="0"/>
            <a:chExt cx="18759462" cy="2804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759424" cy="2804160"/>
            </a:xfrm>
            <a:custGeom>
              <a:avLst/>
              <a:gdLst/>
              <a:ahLst/>
              <a:cxnLst/>
              <a:rect r="r" b="b" t="t" l="l"/>
              <a:pathLst>
                <a:path h="2804160" w="18759424">
                  <a:moveTo>
                    <a:pt x="0" y="0"/>
                  </a:moveTo>
                  <a:lnTo>
                    <a:pt x="18759424" y="0"/>
                  </a:lnTo>
                  <a:lnTo>
                    <a:pt x="18759424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C2A8"/>
            </a:solidFill>
            <a:ln w="2540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12064"/>
            <a:ext cx="16642080" cy="914400"/>
            <a:chOff x="0" y="0"/>
            <a:chExt cx="2218944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&amp; Proposed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3435" y="1910715"/>
            <a:ext cx="7974330" cy="7608570"/>
            <a:chOff x="0" y="0"/>
            <a:chExt cx="10632440" cy="10144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32439" cy="10144760"/>
            </a:xfrm>
            <a:custGeom>
              <a:avLst/>
              <a:gdLst/>
              <a:ahLst/>
              <a:cxnLst/>
              <a:rect r="r" b="b" t="t" l="l"/>
              <a:pathLst>
                <a:path h="10144760" w="10632439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10461244" y="0"/>
                  </a:lnTo>
                  <a:cubicBezTo>
                    <a:pt x="10555732" y="0"/>
                    <a:pt x="10632439" y="76581"/>
                    <a:pt x="10632439" y="171196"/>
                  </a:cubicBezTo>
                  <a:lnTo>
                    <a:pt x="10632439" y="9973564"/>
                  </a:lnTo>
                  <a:cubicBezTo>
                    <a:pt x="10632439" y="10068052"/>
                    <a:pt x="10555859" y="10144760"/>
                    <a:pt x="10461244" y="10144760"/>
                  </a:cubicBezTo>
                  <a:lnTo>
                    <a:pt x="171196" y="10144760"/>
                  </a:lnTo>
                  <a:cubicBezTo>
                    <a:pt x="76581" y="10144760"/>
                    <a:pt x="0" y="10068179"/>
                    <a:pt x="0" y="9973564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286000"/>
            <a:ext cx="7040880" cy="731520"/>
            <a:chOff x="0" y="0"/>
            <a:chExt cx="938784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3878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PROBLEM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35024" y="3215640"/>
            <a:ext cx="6949440" cy="583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Years of fragmented notes, labs, and medication orders — manual chart review under time pressure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Single-shot LLM summaries hallucinate on medication and dosage details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Text-only pipelines can't process structured FHIR resources alongside scanned notes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Each encounter summarized in isolation — no cross-visit trend view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No proactive medication-conflict detection or structured pre-visit briefing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7355" y="1910715"/>
            <a:ext cx="7974330" cy="7608570"/>
            <a:chOff x="0" y="0"/>
            <a:chExt cx="10632440" cy="10144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32439" cy="10144760"/>
            </a:xfrm>
            <a:custGeom>
              <a:avLst/>
              <a:gdLst/>
              <a:ahLst/>
              <a:cxnLst/>
              <a:rect r="r" b="b" t="t" l="l"/>
              <a:pathLst>
                <a:path h="10144760" w="10632439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10461244" y="0"/>
                  </a:lnTo>
                  <a:cubicBezTo>
                    <a:pt x="10555732" y="0"/>
                    <a:pt x="10632439" y="76581"/>
                    <a:pt x="10632439" y="171196"/>
                  </a:cubicBezTo>
                  <a:lnTo>
                    <a:pt x="10632439" y="9973564"/>
                  </a:lnTo>
                  <a:cubicBezTo>
                    <a:pt x="10632439" y="10068052"/>
                    <a:pt x="10555859" y="10144760"/>
                    <a:pt x="10461244" y="10144760"/>
                  </a:cubicBezTo>
                  <a:lnTo>
                    <a:pt x="171196" y="10144760"/>
                  </a:lnTo>
                  <a:cubicBezTo>
                    <a:pt x="76581" y="10144760"/>
                    <a:pt x="0" y="10068179"/>
                    <a:pt x="0" y="9973564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84080" y="2286000"/>
            <a:ext cx="7040880" cy="731520"/>
            <a:chOff x="0" y="0"/>
            <a:chExt cx="938784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87840" cy="975360"/>
            </a:xfrm>
            <a:custGeom>
              <a:avLst/>
              <a:gdLst/>
              <a:ahLst/>
              <a:cxnLst/>
              <a:rect r="r" b="b" t="t" l="l"/>
              <a:pathLst>
                <a:path h="9753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3878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SOLUTION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38944" y="3215640"/>
            <a:ext cx="6949440" cy="583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LangGraph agent pipeline: Extract → Verify → Retrieve → Summarize → Flag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Every insight retrieves verified clinical-guideline text via FAISS RAG before generation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FHIR ingestion + OCR/clinical-NLP extraction for scanned and structured notes alike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longitudinal store enables automatic cross-encounter trend comparison</a:t>
            </a:r>
          </a:p>
          <a:p>
            <a:pPr algn="l" marL="603249" indent="-301625" lvl="1">
              <a:lnSpc>
                <a:spcPts val="3239"/>
              </a:lnSpc>
              <a:buFont typeface="Arial"/>
              <a:buChar char="•"/>
            </a:pPr>
            <a:r>
              <a:rPr lang="en-US" sz="2499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Rule-based range checks auto-flag abnormal labs and medication conflicts, explained via RAG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912096"/>
            <a:ext cx="16642080" cy="402336"/>
            <a:chOff x="0" y="0"/>
            <a:chExt cx="22189440" cy="5364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89439" cy="536448"/>
            </a:xfrm>
            <a:custGeom>
              <a:avLst/>
              <a:gdLst/>
              <a:ahLst/>
              <a:cxnLst/>
              <a:rect r="r" b="b" t="t" l="l"/>
              <a:pathLst>
                <a:path h="5364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972" r="0" b="-75597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EHR Summarizer · GAI Course Project · TCET AI &amp; ML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C2A8"/>
            </a:solidFill>
            <a:ln w="2540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12064"/>
            <a:ext cx="16642080" cy="914400"/>
            <a:chOff x="0" y="0"/>
            <a:chExt cx="2218944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 — 5 Layers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512064"/>
            <a:ext cx="16642080" cy="914400"/>
            <a:chOff x="0" y="0"/>
            <a:chExt cx="221894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89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879"/>
                </a:lnSpc>
              </a:pPr>
              <a:r>
                <a:rPr lang="en-US" sz="24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↺ feedback loop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3435" y="1910715"/>
            <a:ext cx="16661130" cy="1445514"/>
            <a:chOff x="0" y="0"/>
            <a:chExt cx="22214840" cy="19273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14841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2148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2066631" y="0"/>
                  </a:lnTo>
                  <a:cubicBezTo>
                    <a:pt x="22148546" y="0"/>
                    <a:pt x="22214841" y="66421"/>
                    <a:pt x="22214841" y="148209"/>
                  </a:cubicBezTo>
                  <a:lnTo>
                    <a:pt x="22214841" y="1779143"/>
                  </a:lnTo>
                  <a:cubicBezTo>
                    <a:pt x="22214841" y="1861058"/>
                    <a:pt x="22148419" y="1927352"/>
                    <a:pt x="22066631" y="1927352"/>
                  </a:cubicBezTo>
                  <a:lnTo>
                    <a:pt x="148209" y="1927352"/>
                  </a:lnTo>
                  <a:cubicBezTo>
                    <a:pt x="66421" y="1927352"/>
                    <a:pt x="0" y="1860931"/>
                    <a:pt x="0" y="1779143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39447" y="2218439"/>
            <a:ext cx="830075" cy="830075"/>
            <a:chOff x="0" y="0"/>
            <a:chExt cx="1106767" cy="1106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52144" y="2231136"/>
            <a:ext cx="804672" cy="804672"/>
            <a:chOff x="0" y="0"/>
            <a:chExt cx="1072896" cy="1072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49424" y="2066544"/>
            <a:ext cx="14813280" cy="548640"/>
            <a:chOff x="0" y="0"/>
            <a:chExt cx="197510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9751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Ingestion &amp; Clinical NLP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49424" y="2540508"/>
            <a:ext cx="1481328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 + HL7 FHIR client ingests structured resources; scispaCy/transformer NER extracts entities from scanned notes, cross-checked against FHIR fields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13435" y="3483483"/>
            <a:ext cx="16661130" cy="1445514"/>
            <a:chOff x="0" y="0"/>
            <a:chExt cx="22214840" cy="19273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14841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2148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2066631" y="0"/>
                  </a:lnTo>
                  <a:cubicBezTo>
                    <a:pt x="22148546" y="0"/>
                    <a:pt x="22214841" y="66421"/>
                    <a:pt x="22214841" y="148209"/>
                  </a:cubicBezTo>
                  <a:lnTo>
                    <a:pt x="22214841" y="1779143"/>
                  </a:lnTo>
                  <a:cubicBezTo>
                    <a:pt x="22214841" y="1861058"/>
                    <a:pt x="22148419" y="1927352"/>
                    <a:pt x="22066631" y="1927352"/>
                  </a:cubicBezTo>
                  <a:lnTo>
                    <a:pt x="148209" y="1927352"/>
                  </a:lnTo>
                  <a:cubicBezTo>
                    <a:pt x="66421" y="1927352"/>
                    <a:pt x="0" y="1860931"/>
                    <a:pt x="0" y="1779143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695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39447" y="3791207"/>
            <a:ext cx="830075" cy="830075"/>
            <a:chOff x="0" y="0"/>
            <a:chExt cx="1106767" cy="11067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00695C"/>
            </a:solidFill>
            <a:ln w="25400" cap="sq">
              <a:solidFill>
                <a:srgbClr val="00695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52144" y="3803904"/>
            <a:ext cx="804672" cy="804672"/>
            <a:chOff x="0" y="0"/>
            <a:chExt cx="1072896" cy="1072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49424" y="3639312"/>
            <a:ext cx="14813280" cy="548640"/>
            <a:chOff x="0" y="0"/>
            <a:chExt cx="1975104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9751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&amp; Agent Orchestration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249424" y="4113276"/>
            <a:ext cx="1481328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LangGraph state graph assembles current + prior encounter context and runs Extract → Verify → Retrieve → Summarize → Flag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13435" y="5056251"/>
            <a:ext cx="16661130" cy="1445514"/>
            <a:chOff x="0" y="0"/>
            <a:chExt cx="22214840" cy="19273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214841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2148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2066631" y="0"/>
                  </a:lnTo>
                  <a:cubicBezTo>
                    <a:pt x="22148546" y="0"/>
                    <a:pt x="22214841" y="66421"/>
                    <a:pt x="22214841" y="148209"/>
                  </a:cubicBezTo>
                  <a:lnTo>
                    <a:pt x="22214841" y="1779143"/>
                  </a:lnTo>
                  <a:cubicBezTo>
                    <a:pt x="22214841" y="1861058"/>
                    <a:pt x="22148419" y="1927352"/>
                    <a:pt x="22066631" y="1927352"/>
                  </a:cubicBezTo>
                  <a:lnTo>
                    <a:pt x="148209" y="1927352"/>
                  </a:lnTo>
                  <a:cubicBezTo>
                    <a:pt x="66421" y="1927352"/>
                    <a:pt x="0" y="1860931"/>
                    <a:pt x="0" y="1779143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E6510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39447" y="5363975"/>
            <a:ext cx="830075" cy="830075"/>
            <a:chOff x="0" y="0"/>
            <a:chExt cx="1106767" cy="11067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E65100"/>
            </a:solidFill>
            <a:ln w="25400" cap="sq">
              <a:solidFill>
                <a:srgbClr val="E6510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52144" y="5376672"/>
            <a:ext cx="804672" cy="804672"/>
            <a:chOff x="0" y="0"/>
            <a:chExt cx="1072896" cy="10728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249424" y="5212080"/>
            <a:ext cx="14813280" cy="548640"/>
            <a:chOff x="0" y="0"/>
            <a:chExt cx="1975104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9751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65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RAG-Grounded Insight Generation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249424" y="5686044"/>
            <a:ext cx="1481328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FAISS similarity search retrieves verified guideline passages per candidate insight; GPT-4o / Med-Gemini generates the grounded explanation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3435" y="6629019"/>
            <a:ext cx="16661130" cy="1445514"/>
            <a:chOff x="0" y="0"/>
            <a:chExt cx="22214840" cy="19273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14841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2148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2066631" y="0"/>
                  </a:lnTo>
                  <a:cubicBezTo>
                    <a:pt x="22148546" y="0"/>
                    <a:pt x="22214841" y="66421"/>
                    <a:pt x="22214841" y="148209"/>
                  </a:cubicBezTo>
                  <a:lnTo>
                    <a:pt x="22214841" y="1779143"/>
                  </a:lnTo>
                  <a:cubicBezTo>
                    <a:pt x="22214841" y="1861058"/>
                    <a:pt x="22148419" y="1927352"/>
                    <a:pt x="22066631" y="1927352"/>
                  </a:cubicBezTo>
                  <a:lnTo>
                    <a:pt x="148209" y="1927352"/>
                  </a:lnTo>
                  <a:cubicBezTo>
                    <a:pt x="66421" y="1927352"/>
                    <a:pt x="0" y="1860931"/>
                    <a:pt x="0" y="1779143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9C27B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39447" y="6936743"/>
            <a:ext cx="830075" cy="830075"/>
            <a:chOff x="0" y="0"/>
            <a:chExt cx="1106767" cy="11067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9C27B0"/>
            </a:solidFill>
            <a:ln w="25400" cap="sq">
              <a:solidFill>
                <a:srgbClr val="9C27B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52144" y="6949440"/>
            <a:ext cx="804672" cy="804672"/>
            <a:chOff x="0" y="0"/>
            <a:chExt cx="1072896" cy="10728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49424" y="6784848"/>
            <a:ext cx="14813280" cy="548640"/>
            <a:chOff x="0" y="0"/>
            <a:chExt cx="1975104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9751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9C27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 &amp; Insight Output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249424" y="7258812"/>
            <a:ext cx="1481328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Schema-constrained JSON output: chronological summary, risk/medication-conflict flags, pre-visit insight brief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13435" y="8201787"/>
            <a:ext cx="16661130" cy="1445514"/>
            <a:chOff x="0" y="0"/>
            <a:chExt cx="22214840" cy="19273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214841" cy="1927352"/>
            </a:xfrm>
            <a:custGeom>
              <a:avLst/>
              <a:gdLst/>
              <a:ahLst/>
              <a:cxnLst/>
              <a:rect r="r" b="b" t="t" l="l"/>
              <a:pathLst>
                <a:path h="1927352" w="2221484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2066631" y="0"/>
                  </a:lnTo>
                  <a:cubicBezTo>
                    <a:pt x="22148546" y="0"/>
                    <a:pt x="22214841" y="66421"/>
                    <a:pt x="22214841" y="148209"/>
                  </a:cubicBezTo>
                  <a:lnTo>
                    <a:pt x="22214841" y="1779143"/>
                  </a:lnTo>
                  <a:cubicBezTo>
                    <a:pt x="22214841" y="1861058"/>
                    <a:pt x="22148419" y="1927352"/>
                    <a:pt x="22066631" y="1927352"/>
                  </a:cubicBezTo>
                  <a:lnTo>
                    <a:pt x="148209" y="1927352"/>
                  </a:lnTo>
                  <a:cubicBezTo>
                    <a:pt x="66421" y="1927352"/>
                    <a:pt x="0" y="1860931"/>
                    <a:pt x="0" y="1779143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39447" y="8509511"/>
            <a:ext cx="830075" cy="830075"/>
            <a:chOff x="0" y="0"/>
            <a:chExt cx="1106767" cy="11067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00BCD4"/>
            </a:solidFill>
            <a:ln w="25400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152144" y="8522208"/>
            <a:ext cx="804672" cy="804672"/>
            <a:chOff x="0" y="0"/>
            <a:chExt cx="1072896" cy="10728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072896" cy="113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249424" y="8357616"/>
            <a:ext cx="14813280" cy="548640"/>
            <a:chOff x="0" y="0"/>
            <a:chExt cx="1975104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751039" cy="731520"/>
            </a:xfrm>
            <a:custGeom>
              <a:avLst/>
              <a:gdLst/>
              <a:ahLst/>
              <a:cxnLst/>
              <a:rect r="r" b="b" t="t" l="l"/>
              <a:pathLst>
                <a:path h="73152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096" r="0" b="-47609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9751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Persistence &amp; Storage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2249424" y="8831580"/>
            <a:ext cx="1481328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1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relational schema — time-indexed encounters, extracted entities, flags, and longitudinal insight history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822960" y="9912096"/>
            <a:ext cx="16642080" cy="402336"/>
            <a:chOff x="0" y="0"/>
            <a:chExt cx="2218944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189439" cy="536448"/>
            </a:xfrm>
            <a:custGeom>
              <a:avLst/>
              <a:gdLst/>
              <a:ahLst/>
              <a:cxnLst/>
              <a:rect r="r" b="b" t="t" l="l"/>
              <a:pathLst>
                <a:path h="5364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972" r="0" b="-75597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EHR Summarizer · GAI Course Project · TCET AI &amp; ML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C2A8"/>
            </a:solidFill>
            <a:ln w="2540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12064"/>
            <a:ext cx="16642080" cy="914400"/>
            <a:chOff x="0" y="0"/>
            <a:chExt cx="2218944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 &amp; Key Techniques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3435" y="1910715"/>
            <a:ext cx="8111490" cy="1674114"/>
            <a:chOff x="0" y="0"/>
            <a:chExt cx="10815320" cy="22321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52144" y="2066544"/>
            <a:ext cx="7434072" cy="475488"/>
            <a:chOff x="0" y="0"/>
            <a:chExt cx="9912096" cy="6339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 Ingestion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52144" y="2540508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FHIR Bundle REST parsing + OCR fallback for scanned/PDF notes; metadata written to PostgreSQL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63075" y="1910715"/>
            <a:ext cx="8111490" cy="1674114"/>
            <a:chOff x="0" y="0"/>
            <a:chExt cx="10815320" cy="22321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01784" y="2066544"/>
            <a:ext cx="7434072" cy="475488"/>
            <a:chOff x="0" y="0"/>
            <a:chExt cx="9912096" cy="6339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Flagging Logic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01784" y="2540508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if value &lt; range.low or &gt; range.high → flag_value(status="abnormal", direction)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3435" y="3858387"/>
            <a:ext cx="8111490" cy="1674114"/>
            <a:chOff x="0" y="0"/>
            <a:chExt cx="10815320" cy="2232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2144" y="4014216"/>
            <a:ext cx="7434072" cy="475488"/>
            <a:chOff x="0" y="0"/>
            <a:chExt cx="9912096" cy="6339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Assembly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52144" y="4488180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JSON: current encounter + prior history + clinician specialty, per request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63075" y="3858387"/>
            <a:ext cx="8111490" cy="1674114"/>
            <a:chOff x="0" y="0"/>
            <a:chExt cx="10815320" cy="22321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695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01784" y="4014216"/>
            <a:ext cx="7434072" cy="475488"/>
            <a:chOff x="0" y="0"/>
            <a:chExt cx="9912096" cy="6339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 Retrieval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01784" y="4488180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FAISS dense-vector top-k similarity search per candidate insight before generation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13435" y="5806059"/>
            <a:ext cx="8111490" cy="1674114"/>
            <a:chOff x="0" y="0"/>
            <a:chExt cx="10815320" cy="22321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E6510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52144" y="5961888"/>
            <a:ext cx="7434072" cy="475488"/>
            <a:chOff x="0" y="0"/>
            <a:chExt cx="9912096" cy="633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65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Grounded Summarization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52144" y="6435852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Prompt-constrained GPT-4o / Med-Gemini output, validated against a JSON schema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63075" y="5806059"/>
            <a:ext cx="8111490" cy="1674114"/>
            <a:chOff x="0" y="0"/>
            <a:chExt cx="10815320" cy="2232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9C27B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701784" y="5961888"/>
            <a:ext cx="7434072" cy="475488"/>
            <a:chOff x="0" y="0"/>
            <a:chExt cx="9912096" cy="6339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9C27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 Pipeline Resilience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9701784" y="6435852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Low-confidence NLP → Verify node requests clinician confirmation before Summarize proceeds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3435" y="7753731"/>
            <a:ext cx="8111490" cy="1674114"/>
            <a:chOff x="0" y="0"/>
            <a:chExt cx="10815320" cy="22321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144" y="7909560"/>
            <a:ext cx="7434072" cy="475488"/>
            <a:chOff x="0" y="0"/>
            <a:chExt cx="9912096" cy="6339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Persistence Layer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52144" y="8383524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PostgreSQL: patients, encounters, extracted_entities, insight_flags, summaries, query_history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363075" y="7753731"/>
            <a:ext cx="8111490" cy="1674114"/>
            <a:chOff x="0" y="0"/>
            <a:chExt cx="10815320" cy="22321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15320" cy="2232152"/>
            </a:xfrm>
            <a:custGeom>
              <a:avLst/>
              <a:gdLst/>
              <a:ahLst/>
              <a:cxnLst/>
              <a:rect r="r" b="b" t="t" l="l"/>
              <a:pathLst>
                <a:path h="2232152" w="1081532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0692003" y="0"/>
                  </a:lnTo>
                  <a:cubicBezTo>
                    <a:pt x="10760075" y="0"/>
                    <a:pt x="10815320" y="55245"/>
                    <a:pt x="10815320" y="123317"/>
                  </a:cubicBezTo>
                  <a:lnTo>
                    <a:pt x="10815320" y="2108835"/>
                  </a:lnTo>
                  <a:cubicBezTo>
                    <a:pt x="10815320" y="2176907"/>
                    <a:pt x="10760075" y="2232152"/>
                    <a:pt x="10692003" y="2232152"/>
                  </a:cubicBezTo>
                  <a:lnTo>
                    <a:pt x="123317" y="2232152"/>
                  </a:lnTo>
                  <a:cubicBezTo>
                    <a:pt x="55245" y="2232152"/>
                    <a:pt x="0" y="2176907"/>
                    <a:pt x="0" y="2108835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E74C3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01784" y="7909560"/>
            <a:ext cx="7434072" cy="475488"/>
            <a:chOff x="0" y="0"/>
            <a:chExt cx="9912096" cy="6339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12096" cy="633984"/>
            </a:xfrm>
            <a:custGeom>
              <a:avLst/>
              <a:gdLst/>
              <a:ahLst/>
              <a:cxnLst/>
              <a:rect r="r" b="b" t="t" l="l"/>
              <a:pathLst>
                <a:path h="633984" w="9912096">
                  <a:moveTo>
                    <a:pt x="0" y="0"/>
                  </a:moveTo>
                  <a:lnTo>
                    <a:pt x="9912096" y="0"/>
                  </a:lnTo>
                  <a:lnTo>
                    <a:pt x="9912096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641" r="0" b="-25464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912096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74C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Strategy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701784" y="8383524"/>
            <a:ext cx="7434072" cy="88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Unit (functions) + Integration (Postman/UI, end-to-end) + Regression (re-run on code change)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22960" y="9912096"/>
            <a:ext cx="16642080" cy="402336"/>
            <a:chOff x="0" y="0"/>
            <a:chExt cx="2218944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189439" cy="536448"/>
            </a:xfrm>
            <a:custGeom>
              <a:avLst/>
              <a:gdLst/>
              <a:ahLst/>
              <a:cxnLst/>
              <a:rect r="r" b="b" t="t" l="l"/>
              <a:pathLst>
                <a:path h="5364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972" r="0" b="-75597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EHR Summarizer · GAI Course Project · TCET AI &amp; ML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C2A8"/>
            </a:solidFill>
            <a:ln w="2540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12064"/>
            <a:ext cx="16642080" cy="914400"/>
            <a:chOff x="0" y="0"/>
            <a:chExt cx="2218944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&amp; Insight Output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828800"/>
            <a:ext cx="7863840" cy="548640"/>
            <a:chOff x="0" y="0"/>
            <a:chExt cx="104851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Test Coverage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651760"/>
            <a:ext cx="7863840" cy="365760"/>
            <a:chOff x="0" y="0"/>
            <a:chExt cx="10485120" cy="4876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48512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FHIR Ingestion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0263" y="3004823"/>
            <a:ext cx="7889243" cy="281435"/>
            <a:chOff x="0" y="0"/>
            <a:chExt cx="10518991" cy="3752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263547"/>
            </a:solidFill>
            <a:ln w="25400" cap="sq">
              <a:solidFill>
                <a:srgbClr val="26354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0263" y="3004823"/>
            <a:ext cx="7889243" cy="281435"/>
            <a:chOff x="0" y="0"/>
            <a:chExt cx="10518991" cy="3752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1565C0"/>
            </a:solidFill>
            <a:ln w="2540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040880" y="2615184"/>
            <a:ext cx="1645920" cy="365760"/>
            <a:chOff x="0" y="0"/>
            <a:chExt cx="219456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657600"/>
            <a:ext cx="7863840" cy="365760"/>
            <a:chOff x="0" y="0"/>
            <a:chExt cx="1048512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48512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NLP Extraction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0263" y="4010663"/>
            <a:ext cx="7889243" cy="281435"/>
            <a:chOff x="0" y="0"/>
            <a:chExt cx="10518991" cy="3752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263547"/>
            </a:solidFill>
            <a:ln w="25400" cap="sq">
              <a:solidFill>
                <a:srgbClr val="26354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10263" y="4010663"/>
            <a:ext cx="7889243" cy="281435"/>
            <a:chOff x="0" y="0"/>
            <a:chExt cx="10518991" cy="3752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00695C"/>
            </a:solidFill>
            <a:ln w="25400" cap="sq">
              <a:solidFill>
                <a:srgbClr val="00695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040880" y="3621024"/>
            <a:ext cx="1645920" cy="365760"/>
            <a:chOff x="0" y="0"/>
            <a:chExt cx="2194560" cy="4876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4663440"/>
            <a:ext cx="7863840" cy="365760"/>
            <a:chOff x="0" y="0"/>
            <a:chExt cx="10485120" cy="48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48512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Flagging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0263" y="5016503"/>
            <a:ext cx="7889243" cy="281435"/>
            <a:chOff x="0" y="0"/>
            <a:chExt cx="10518991" cy="3752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263547"/>
            </a:solidFill>
            <a:ln w="25400" cap="sq">
              <a:solidFill>
                <a:srgbClr val="26354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10263" y="5016503"/>
            <a:ext cx="7889243" cy="281435"/>
            <a:chOff x="0" y="0"/>
            <a:chExt cx="10518991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E65100"/>
            </a:solidFill>
            <a:ln w="25400" cap="sq">
              <a:solidFill>
                <a:srgbClr val="E6510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040880" y="4626864"/>
            <a:ext cx="1645920" cy="365760"/>
            <a:chOff x="0" y="0"/>
            <a:chExt cx="2194560" cy="487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E65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5669280"/>
            <a:ext cx="7863840" cy="365760"/>
            <a:chOff x="0" y="0"/>
            <a:chExt cx="10485120" cy="487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48512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 Comparison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10263" y="6022343"/>
            <a:ext cx="7889243" cy="281435"/>
            <a:chOff x="0" y="0"/>
            <a:chExt cx="10518991" cy="37524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263547"/>
            </a:solidFill>
            <a:ln w="25400" cap="sq">
              <a:solidFill>
                <a:srgbClr val="263547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10263" y="6022343"/>
            <a:ext cx="7889243" cy="281435"/>
            <a:chOff x="0" y="0"/>
            <a:chExt cx="10518991" cy="37524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9C27B0"/>
            </a:solidFill>
            <a:ln w="25400" cap="sq">
              <a:solidFill>
                <a:srgbClr val="9C27B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040880" y="5632704"/>
            <a:ext cx="1645920" cy="365760"/>
            <a:chOff x="0" y="0"/>
            <a:chExt cx="21945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9C27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6675120"/>
            <a:ext cx="7863840" cy="365760"/>
            <a:chOff x="0" y="0"/>
            <a:chExt cx="10485120" cy="4876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48512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Specialty Templates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0263" y="7028183"/>
            <a:ext cx="7889243" cy="281435"/>
            <a:chOff x="0" y="0"/>
            <a:chExt cx="10518991" cy="37524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263547"/>
            </a:solidFill>
            <a:ln w="25400" cap="sq">
              <a:solidFill>
                <a:srgbClr val="263547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10263" y="7028183"/>
            <a:ext cx="7889243" cy="281435"/>
            <a:chOff x="0" y="0"/>
            <a:chExt cx="10518991" cy="37524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00BCD4"/>
            </a:solidFill>
            <a:ln w="25400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040880" y="6638544"/>
            <a:ext cx="1645920" cy="365760"/>
            <a:chOff x="0" y="0"/>
            <a:chExt cx="2194560" cy="487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7680960"/>
            <a:ext cx="7863840" cy="365760"/>
            <a:chOff x="0" y="0"/>
            <a:chExt cx="10485120" cy="4876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85120" cy="487680"/>
            </a:xfrm>
            <a:custGeom>
              <a:avLst/>
              <a:gdLst/>
              <a:ahLst/>
              <a:cxnLst/>
              <a:rect r="r" b="b" t="t" l="l"/>
              <a:pathLst>
                <a:path h="4876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928" r="0" b="-36892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48512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69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Failure Handling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10263" y="8034023"/>
            <a:ext cx="7889243" cy="281435"/>
            <a:chOff x="0" y="0"/>
            <a:chExt cx="10518991" cy="37524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263547"/>
            </a:solidFill>
            <a:ln w="25400" cap="sq">
              <a:solidFill>
                <a:srgbClr val="26354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810263" y="8034023"/>
            <a:ext cx="7889243" cy="281435"/>
            <a:chOff x="0" y="0"/>
            <a:chExt cx="10518991" cy="3752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519028" cy="375159"/>
            </a:xfrm>
            <a:custGeom>
              <a:avLst/>
              <a:gdLst/>
              <a:ahLst/>
              <a:cxnLst/>
              <a:rect r="r" b="b" t="t" l="l"/>
              <a:pathLst>
                <a:path h="375159" w="10519028">
                  <a:moveTo>
                    <a:pt x="0" y="53594"/>
                  </a:moveTo>
                  <a:cubicBezTo>
                    <a:pt x="0" y="24003"/>
                    <a:pt x="24003" y="0"/>
                    <a:pt x="53594" y="0"/>
                  </a:cubicBezTo>
                  <a:lnTo>
                    <a:pt x="10465435" y="0"/>
                  </a:lnTo>
                  <a:cubicBezTo>
                    <a:pt x="10495026" y="0"/>
                    <a:pt x="10519028" y="24003"/>
                    <a:pt x="10519028" y="53594"/>
                  </a:cubicBezTo>
                  <a:lnTo>
                    <a:pt x="10519028" y="321564"/>
                  </a:lnTo>
                  <a:cubicBezTo>
                    <a:pt x="10519028" y="351155"/>
                    <a:pt x="10495026" y="375158"/>
                    <a:pt x="10465435" y="375158"/>
                  </a:cubicBezTo>
                  <a:lnTo>
                    <a:pt x="53594" y="375158"/>
                  </a:lnTo>
                  <a:cubicBezTo>
                    <a:pt x="24003" y="375285"/>
                    <a:pt x="0" y="351282"/>
                    <a:pt x="0" y="321691"/>
                  </a:cubicBezTo>
                  <a:close/>
                </a:path>
              </a:pathLst>
            </a:custGeom>
            <a:solidFill>
              <a:srgbClr val="4CAF50"/>
            </a:solidFill>
            <a:ln w="25400" cap="sq">
              <a:solidFill>
                <a:srgbClr val="4CAF50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7040880" y="7644384"/>
            <a:ext cx="1645920" cy="365760"/>
            <a:chOff x="0" y="0"/>
            <a:chExt cx="2194560" cy="4876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456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945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sz="1899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18320" y="1828800"/>
            <a:ext cx="8046720" cy="548640"/>
            <a:chOff x="0" y="0"/>
            <a:chExt cx="107289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0728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 Output Fields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08795" y="2550795"/>
            <a:ext cx="8065770" cy="1573530"/>
            <a:chOff x="0" y="0"/>
            <a:chExt cx="10754360" cy="20980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543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1075436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10630916" y="0"/>
                  </a:lnTo>
                  <a:cubicBezTo>
                    <a:pt x="10699115" y="0"/>
                    <a:pt x="10754360" y="55245"/>
                    <a:pt x="10754360" y="123444"/>
                  </a:cubicBezTo>
                  <a:lnTo>
                    <a:pt x="10754360" y="1974596"/>
                  </a:lnTo>
                  <a:cubicBezTo>
                    <a:pt x="10754360" y="2042795"/>
                    <a:pt x="10699115" y="2098040"/>
                    <a:pt x="10630916" y="2098040"/>
                  </a:cubicBezTo>
                  <a:lnTo>
                    <a:pt x="123444" y="2098040"/>
                  </a:lnTo>
                  <a:cubicBezTo>
                    <a:pt x="55245" y="2098040"/>
                    <a:pt x="0" y="2042795"/>
                    <a:pt x="0" y="197459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47504" y="2706624"/>
            <a:ext cx="7388352" cy="512064"/>
            <a:chOff x="0" y="0"/>
            <a:chExt cx="9851136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51136" cy="682752"/>
            </a:xfrm>
            <a:custGeom>
              <a:avLst/>
              <a:gdLst/>
              <a:ahLst/>
              <a:cxnLst/>
              <a:rect r="r" b="b" t="t" l="l"/>
              <a:pathLst>
                <a:path h="682752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141" r="0" b="-23114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85113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Longitudinal Summary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747504" y="3253740"/>
            <a:ext cx="7388352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chronological · specialty-aware · guideline-grounded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408795" y="4361307"/>
            <a:ext cx="8065770" cy="1573530"/>
            <a:chOff x="0" y="0"/>
            <a:chExt cx="10754360" cy="20980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543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1075436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10630916" y="0"/>
                  </a:lnTo>
                  <a:cubicBezTo>
                    <a:pt x="10699115" y="0"/>
                    <a:pt x="10754360" y="55245"/>
                    <a:pt x="10754360" y="123444"/>
                  </a:cubicBezTo>
                  <a:lnTo>
                    <a:pt x="10754360" y="1974596"/>
                  </a:lnTo>
                  <a:cubicBezTo>
                    <a:pt x="10754360" y="2042795"/>
                    <a:pt x="10699115" y="2098040"/>
                    <a:pt x="10630916" y="2098040"/>
                  </a:cubicBezTo>
                  <a:lnTo>
                    <a:pt x="123444" y="2098040"/>
                  </a:lnTo>
                  <a:cubicBezTo>
                    <a:pt x="55245" y="2098040"/>
                    <a:pt x="0" y="2042795"/>
                    <a:pt x="0" y="197459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F4A261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747504" y="4517136"/>
            <a:ext cx="7388352" cy="512064"/>
            <a:chOff x="0" y="0"/>
            <a:chExt cx="9851136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851136" cy="682752"/>
            </a:xfrm>
            <a:custGeom>
              <a:avLst/>
              <a:gdLst/>
              <a:ahLst/>
              <a:cxnLst/>
              <a:rect r="r" b="b" t="t" l="l"/>
              <a:pathLst>
                <a:path h="682752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141" r="0" b="-23114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85113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&amp; Trend Flags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9747504" y="5064252"/>
            <a:ext cx="7388352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flag_type · status · grounded explanation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408795" y="6171819"/>
            <a:ext cx="8065770" cy="1573530"/>
            <a:chOff x="0" y="0"/>
            <a:chExt cx="10754360" cy="20980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7543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1075436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10630916" y="0"/>
                  </a:lnTo>
                  <a:cubicBezTo>
                    <a:pt x="10699115" y="0"/>
                    <a:pt x="10754360" y="55245"/>
                    <a:pt x="10754360" y="123444"/>
                  </a:cubicBezTo>
                  <a:lnTo>
                    <a:pt x="10754360" y="1974596"/>
                  </a:lnTo>
                  <a:cubicBezTo>
                    <a:pt x="10754360" y="2042795"/>
                    <a:pt x="10699115" y="2098040"/>
                    <a:pt x="10630916" y="2098040"/>
                  </a:cubicBezTo>
                  <a:lnTo>
                    <a:pt x="123444" y="2098040"/>
                  </a:lnTo>
                  <a:cubicBezTo>
                    <a:pt x="55245" y="2098040"/>
                    <a:pt x="0" y="2042795"/>
                    <a:pt x="0" y="197459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1565C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747504" y="6327648"/>
            <a:ext cx="7388352" cy="512064"/>
            <a:chOff x="0" y="0"/>
            <a:chExt cx="9851136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851136" cy="682752"/>
            </a:xfrm>
            <a:custGeom>
              <a:avLst/>
              <a:gdLst/>
              <a:ahLst/>
              <a:cxnLst/>
              <a:rect r="r" b="b" t="t" l="l"/>
              <a:pathLst>
                <a:path h="682752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141" r="0" b="-23114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985113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Pre-Visit Insight Brief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9747504" y="6874764"/>
            <a:ext cx="7388352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active problems · flagged risks · medication updates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9408795" y="7982331"/>
            <a:ext cx="8065770" cy="1573530"/>
            <a:chOff x="0" y="0"/>
            <a:chExt cx="10754360" cy="2098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7543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10754360">
                  <a:moveTo>
                    <a:pt x="0" y="123444"/>
                  </a:moveTo>
                  <a:cubicBezTo>
                    <a:pt x="0" y="55245"/>
                    <a:pt x="55245" y="0"/>
                    <a:pt x="123444" y="0"/>
                  </a:cubicBezTo>
                  <a:lnTo>
                    <a:pt x="10630916" y="0"/>
                  </a:lnTo>
                  <a:cubicBezTo>
                    <a:pt x="10699115" y="0"/>
                    <a:pt x="10754360" y="55245"/>
                    <a:pt x="10754360" y="123444"/>
                  </a:cubicBezTo>
                  <a:lnTo>
                    <a:pt x="10754360" y="1974596"/>
                  </a:lnTo>
                  <a:cubicBezTo>
                    <a:pt x="10754360" y="2042795"/>
                    <a:pt x="10699115" y="2098040"/>
                    <a:pt x="10630916" y="2098040"/>
                  </a:cubicBezTo>
                  <a:lnTo>
                    <a:pt x="123444" y="2098040"/>
                  </a:lnTo>
                  <a:cubicBezTo>
                    <a:pt x="55245" y="2098040"/>
                    <a:pt x="0" y="2042795"/>
                    <a:pt x="0" y="197459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BCD4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747504" y="8138160"/>
            <a:ext cx="7388352" cy="512064"/>
            <a:chOff x="0" y="0"/>
            <a:chExt cx="9851136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851136" cy="682752"/>
            </a:xfrm>
            <a:custGeom>
              <a:avLst/>
              <a:gdLst/>
              <a:ahLst/>
              <a:cxnLst/>
              <a:rect r="r" b="b" t="t" l="l"/>
              <a:pathLst>
                <a:path h="682752" w="9851136">
                  <a:moveTo>
                    <a:pt x="0" y="0"/>
                  </a:moveTo>
                  <a:lnTo>
                    <a:pt x="9851136" y="0"/>
                  </a:lnTo>
                  <a:lnTo>
                    <a:pt x="985113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141" r="0" b="-23114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85113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BC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Persistence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9747504" y="8685276"/>
            <a:ext cx="7388352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extracted entities · flags · query history in PostgreSQL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822960" y="9912096"/>
            <a:ext cx="16642080" cy="402336"/>
            <a:chOff x="0" y="0"/>
            <a:chExt cx="22189440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189439" cy="536448"/>
            </a:xfrm>
            <a:custGeom>
              <a:avLst/>
              <a:gdLst/>
              <a:ahLst/>
              <a:cxnLst/>
              <a:rect r="r" b="b" t="t" l="l"/>
              <a:pathLst>
                <a:path h="53644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5972" r="0" b="-75597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21894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EHR Summarizer · GAI Course Project · TCET AI &amp; ML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53419"/>
            <a:chOff x="0" y="0"/>
            <a:chExt cx="24417871" cy="204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04597"/>
            </a:xfrm>
            <a:custGeom>
              <a:avLst/>
              <a:gdLst/>
              <a:ahLst/>
              <a:cxnLst/>
              <a:rect r="r" b="b" t="t" l="l"/>
              <a:pathLst>
                <a:path h="20459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04597"/>
                  </a:lnTo>
                  <a:lnTo>
                    <a:pt x="0" y="204597"/>
                  </a:lnTo>
                  <a:close/>
                </a:path>
              </a:pathLst>
            </a:custGeom>
            <a:solidFill>
              <a:srgbClr val="00C2A8"/>
            </a:solidFill>
            <a:ln w="2540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512064"/>
            <a:ext cx="16642080" cy="914400"/>
            <a:chOff x="0" y="0"/>
            <a:chExt cx="2218944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894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27" r="0" b="-3046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21894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Scalability, Impact &amp; 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828800"/>
            <a:ext cx="16642080" cy="548640"/>
            <a:chOff x="0" y="0"/>
            <a:chExt cx="221894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046" r="0" b="-54104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189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3-Stage Deployment Rollout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3435" y="2550795"/>
            <a:ext cx="5231130" cy="2122170"/>
            <a:chOff x="0" y="0"/>
            <a:chExt cx="6974840" cy="2829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4840" cy="2829560"/>
            </a:xfrm>
            <a:custGeom>
              <a:avLst/>
              <a:gdLst/>
              <a:ahLst/>
              <a:cxnLst/>
              <a:rect r="r" b="b" t="t" l="l"/>
              <a:pathLst>
                <a:path h="2829560" w="69748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266" y="0"/>
                  </a:lnTo>
                  <a:cubicBezTo>
                    <a:pt x="6908800" y="0"/>
                    <a:pt x="6974840" y="66040"/>
                    <a:pt x="6974840" y="147574"/>
                  </a:cubicBezTo>
                  <a:lnTo>
                    <a:pt x="6974840" y="2681986"/>
                  </a:lnTo>
                  <a:cubicBezTo>
                    <a:pt x="6974840" y="2763520"/>
                    <a:pt x="6908800" y="2829560"/>
                    <a:pt x="6827266" y="2829560"/>
                  </a:cubicBezTo>
                  <a:lnTo>
                    <a:pt x="147574" y="2829560"/>
                  </a:lnTo>
                  <a:cubicBezTo>
                    <a:pt x="66040" y="2829560"/>
                    <a:pt x="0" y="2763520"/>
                    <a:pt x="0" y="268198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706624"/>
            <a:ext cx="1645920" cy="640080"/>
            <a:chOff x="0" y="0"/>
            <a:chExt cx="219456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45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328416"/>
            <a:ext cx="4663440" cy="457200"/>
            <a:chOff x="0" y="0"/>
            <a:chExt cx="621792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21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Pilot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7280" y="3765804"/>
            <a:ext cx="4663440" cy="80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18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department · sample longitudinal records · validate grounding accuracy &amp; latency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35040" y="2560320"/>
            <a:ext cx="402336" cy="2103120"/>
            <a:chOff x="0" y="0"/>
            <a:chExt cx="536448" cy="2804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6448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0677" t="0" r="-62067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36448" cy="286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27851" y="2550795"/>
            <a:ext cx="5231130" cy="2122170"/>
            <a:chOff x="0" y="0"/>
            <a:chExt cx="6974840" cy="2829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74840" cy="2829560"/>
            </a:xfrm>
            <a:custGeom>
              <a:avLst/>
              <a:gdLst/>
              <a:ahLst/>
              <a:cxnLst/>
              <a:rect r="r" b="b" t="t" l="l"/>
              <a:pathLst>
                <a:path h="2829560" w="69748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266" y="0"/>
                  </a:lnTo>
                  <a:cubicBezTo>
                    <a:pt x="6908800" y="0"/>
                    <a:pt x="6974840" y="66040"/>
                    <a:pt x="6974840" y="147574"/>
                  </a:cubicBezTo>
                  <a:lnTo>
                    <a:pt x="6974840" y="2681986"/>
                  </a:lnTo>
                  <a:cubicBezTo>
                    <a:pt x="6974840" y="2763520"/>
                    <a:pt x="6908800" y="2829560"/>
                    <a:pt x="6827266" y="2829560"/>
                  </a:cubicBezTo>
                  <a:lnTo>
                    <a:pt x="147574" y="2829560"/>
                  </a:lnTo>
                  <a:cubicBezTo>
                    <a:pt x="66040" y="2829560"/>
                    <a:pt x="0" y="2763520"/>
                    <a:pt x="0" y="268198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711696" y="2706624"/>
            <a:ext cx="1645920" cy="640080"/>
            <a:chOff x="0" y="0"/>
            <a:chExt cx="219456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21945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11696" y="3328416"/>
            <a:ext cx="4663440" cy="457200"/>
            <a:chOff x="0" y="0"/>
            <a:chExt cx="621792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21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Multi-Specialty Scale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711696" y="3765804"/>
            <a:ext cx="4663440" cy="80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18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departments · specialty-aware templates · clinician QA / confirmation loop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649456" y="2560320"/>
            <a:ext cx="402336" cy="2103120"/>
            <a:chOff x="0" y="0"/>
            <a:chExt cx="536448" cy="2804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6448" cy="2804160"/>
            </a:xfrm>
            <a:custGeom>
              <a:avLst/>
              <a:gdLst/>
              <a:ahLst/>
              <a:cxnLst/>
              <a:rect r="r" b="b" t="t" l="l"/>
              <a:pathLst>
                <a:path h="280416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0677" t="0" r="-62067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36448" cy="2861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42267" y="2550795"/>
            <a:ext cx="5231130" cy="2122170"/>
            <a:chOff x="0" y="0"/>
            <a:chExt cx="6974840" cy="2829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4840" cy="2829560"/>
            </a:xfrm>
            <a:custGeom>
              <a:avLst/>
              <a:gdLst/>
              <a:ahLst/>
              <a:cxnLst/>
              <a:rect r="r" b="b" t="t" l="l"/>
              <a:pathLst>
                <a:path h="2829560" w="69748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827266" y="0"/>
                  </a:lnTo>
                  <a:cubicBezTo>
                    <a:pt x="6908800" y="0"/>
                    <a:pt x="6974840" y="66040"/>
                    <a:pt x="6974840" y="147574"/>
                  </a:cubicBezTo>
                  <a:lnTo>
                    <a:pt x="6974840" y="2681986"/>
                  </a:lnTo>
                  <a:cubicBezTo>
                    <a:pt x="6974840" y="2763520"/>
                    <a:pt x="6908800" y="2829560"/>
                    <a:pt x="6827266" y="2829560"/>
                  </a:cubicBezTo>
                  <a:lnTo>
                    <a:pt x="147574" y="2829560"/>
                  </a:lnTo>
                  <a:cubicBezTo>
                    <a:pt x="66040" y="2829560"/>
                    <a:pt x="0" y="2763520"/>
                    <a:pt x="0" y="2681986"/>
                  </a:cubicBezTo>
                  <a:close/>
                </a:path>
              </a:pathLst>
            </a:custGeom>
            <a:solidFill>
              <a:srgbClr val="B0BEC5"/>
            </a:solidFill>
            <a:ln w="19050" cap="sq">
              <a:solidFill>
                <a:srgbClr val="00C2A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326112" y="2706624"/>
            <a:ext cx="1645920" cy="640080"/>
            <a:chOff x="0" y="0"/>
            <a:chExt cx="219456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" r="0" b="-1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219456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26112" y="3328416"/>
            <a:ext cx="4663440" cy="457200"/>
            <a:chOff x="0" y="0"/>
            <a:chExt cx="621792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17920" cy="609600"/>
            </a:xfrm>
            <a:custGeom>
              <a:avLst/>
              <a:gdLst/>
              <a:ahLst/>
              <a:cxnLst/>
              <a:rect r="r" b="b" t="t" l="l"/>
              <a:pathLst>
                <a:path h="6096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47" r="0" b="-1487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2179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624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Hospital-Wide Deployment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326112" y="3765804"/>
            <a:ext cx="4663440" cy="80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1860">
                <a:solidFill>
                  <a:srgbClr val="00695C"/>
                </a:solidFill>
                <a:latin typeface="Calibri (MS)"/>
                <a:ea typeface="Calibri (MS)"/>
                <a:cs typeface="Calibri (MS)"/>
                <a:sym typeface="Calibri (MS)"/>
              </a:rPr>
              <a:t>Full EHR integration · Dockerized microservices · CI/CD via GitHub Actions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2960" y="4937760"/>
            <a:ext cx="16642080" cy="585216"/>
            <a:chOff x="0" y="0"/>
            <a:chExt cx="22189440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89439" cy="780288"/>
            </a:xfrm>
            <a:custGeom>
              <a:avLst/>
              <a:gdLst/>
              <a:ahLst/>
              <a:cxnLst/>
              <a:rect r="r" b="b" t="t" l="l"/>
              <a:pathLst>
                <a:path h="780288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105" r="0" b="-50410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2189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F4A26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💡  Cloud-hosted on Render/AWS with a managed PostgreSQL instance · FAISS index loaded in-memory · Vercel CDN frontend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5852160"/>
            <a:ext cx="7955280" cy="548640"/>
            <a:chOff x="0" y="0"/>
            <a:chExt cx="106070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0607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006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26880" y="5852160"/>
            <a:ext cx="7955280" cy="548640"/>
            <a:chOff x="0" y="0"/>
            <a:chExt cx="1060704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607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22960" y="6389751"/>
            <a:ext cx="7955280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Cross-lab parameter-name normalization for robust trend comparison</a:t>
            </a:r>
          </a:p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Patient-facing simplified summary view (consent-based)</a:t>
            </a:r>
          </a:p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for imaging and pathology record types</a:t>
            </a:r>
          </a:p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On-device / offline NLP for low-connectivity clinics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26880" y="6389751"/>
            <a:ext cx="7955280" cy="315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chart-review time before every consultation</a:t>
            </a:r>
          </a:p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Cuts hallucination risk via guideline-grounded generation</a:t>
            </a:r>
          </a:p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Proactive medication-conflict &amp; risk detection</a:t>
            </a:r>
          </a:p>
          <a:p>
            <a:pPr algn="l" marL="497079" indent="-248539" lvl="1">
              <a:lnSpc>
                <a:spcPts val="2595"/>
              </a:lnSpc>
              <a:buFont typeface="Arial"/>
              <a:buChar char="•"/>
            </a:pPr>
            <a:r>
              <a:rPr lang="en-US" sz="2060">
                <a:solidFill>
                  <a:srgbClr val="162436"/>
                </a:solidFill>
                <a:latin typeface="Calibri (MS)"/>
                <a:ea typeface="Calibri (MS)"/>
                <a:cs typeface="Calibri (MS)"/>
                <a:sym typeface="Calibri (MS)"/>
              </a:rPr>
              <a:t>Scales specialty-aware insight generation across departments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22960" y="9656064"/>
            <a:ext cx="16642080" cy="457200"/>
            <a:chOff x="0" y="0"/>
            <a:chExt cx="2218944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189439" cy="609600"/>
            </a:xfrm>
            <a:custGeom>
              <a:avLst/>
              <a:gdLst/>
              <a:ahLst/>
              <a:cxnLst/>
              <a:rect r="r" b="b" t="t" l="l"/>
              <a:pathLst>
                <a:path h="6096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255" r="0" b="-65925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21894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EHR Summarizer · GAI Course Project · TCET AI &amp; ML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DAHTMkJq1fE</dc:identifier>
  <dcterms:modified xsi:type="dcterms:W3CDTF">2011-08-01T06:04:30Z</dcterms:modified>
  <cp:revision>1</cp:revision>
  <dc:title>AI_EHR_Summarizer_Presentation.pptx</dc:title>
</cp:coreProperties>
</file>